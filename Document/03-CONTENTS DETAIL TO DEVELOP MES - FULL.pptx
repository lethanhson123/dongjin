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44"/>
  </p:notesMasterIdLst>
  <p:handoutMasterIdLst>
    <p:handoutMasterId r:id="rId45"/>
  </p:handoutMasterIdLst>
  <p:sldIdLst>
    <p:sldId id="732" r:id="rId3"/>
    <p:sldId id="700" r:id="rId4"/>
    <p:sldId id="1490" r:id="rId5"/>
    <p:sldId id="1491" r:id="rId6"/>
    <p:sldId id="1492" r:id="rId7"/>
    <p:sldId id="1493" r:id="rId8"/>
    <p:sldId id="1494" r:id="rId9"/>
    <p:sldId id="1496" r:id="rId10"/>
    <p:sldId id="1503" r:id="rId11"/>
    <p:sldId id="1495" r:id="rId12"/>
    <p:sldId id="1504" r:id="rId13"/>
    <p:sldId id="1497" r:id="rId14"/>
    <p:sldId id="1498" r:id="rId15"/>
    <p:sldId id="1499" r:id="rId16"/>
    <p:sldId id="1505" r:id="rId17"/>
    <p:sldId id="1500" r:id="rId18"/>
    <p:sldId id="1501" r:id="rId19"/>
    <p:sldId id="1502" r:id="rId20"/>
    <p:sldId id="1508" r:id="rId21"/>
    <p:sldId id="1507" r:id="rId22"/>
    <p:sldId id="1506" r:id="rId23"/>
    <p:sldId id="1509" r:id="rId24"/>
    <p:sldId id="1510" r:id="rId25"/>
    <p:sldId id="1511" r:id="rId26"/>
    <p:sldId id="1512" r:id="rId27"/>
    <p:sldId id="1513" r:id="rId28"/>
    <p:sldId id="1514" r:id="rId29"/>
    <p:sldId id="1515" r:id="rId30"/>
    <p:sldId id="1516" r:id="rId31"/>
    <p:sldId id="1517" r:id="rId32"/>
    <p:sldId id="1518" r:id="rId33"/>
    <p:sldId id="1519" r:id="rId34"/>
    <p:sldId id="1520" r:id="rId35"/>
    <p:sldId id="1522" r:id="rId36"/>
    <p:sldId id="1521" r:id="rId37"/>
    <p:sldId id="1523" r:id="rId38"/>
    <p:sldId id="1525" r:id="rId39"/>
    <p:sldId id="1526" r:id="rId40"/>
    <p:sldId id="1527" r:id="rId41"/>
    <p:sldId id="1528" r:id="rId42"/>
    <p:sldId id="741" r:id="rId43"/>
  </p:sldIdLst>
  <p:sldSz cx="9144000" cy="5715000" type="screen16x10"/>
  <p:notesSz cx="7315200" cy="96012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800" b="1" kern="1200">
        <a:solidFill>
          <a:srgbClr val="FF0000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CC"/>
    <a:srgbClr val="FF0000"/>
    <a:srgbClr val="009900"/>
    <a:srgbClr val="FFC000"/>
    <a:srgbClr val="CCCCFF"/>
    <a:srgbClr val="66FF66"/>
    <a:srgbClr val="D09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60" autoAdjust="0"/>
  </p:normalViewPr>
  <p:slideViewPr>
    <p:cSldViewPr>
      <p:cViewPr varScale="1">
        <p:scale>
          <a:sx n="144" d="100"/>
          <a:sy n="144" d="100"/>
        </p:scale>
        <p:origin x="582" y="18"/>
      </p:cViewPr>
      <p:guideLst>
        <p:guide orient="horz" pos="3433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8" y="-108"/>
      </p:cViewPr>
      <p:guideLst>
        <p:guide orient="horz" pos="3024"/>
        <p:guide pos="230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5BDCCF-16AC-4AB0-A5D5-C88D98999D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87E52CC-CF56-4B7A-86E1-3B2CDCDE4B9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3B3E6F3-A3B5-4D67-BF82-4A89997AB09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F261CAD-8EA4-408D-B71E-29A021C27CC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300" b="0" smtClean="0">
                <a:solidFill>
                  <a:schemeClr val="tx1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E41CB830-6CDA-47D7-B9FC-B7DFB9C82D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273831D-AF1F-4AEA-BD83-6F21C5A552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3725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20000"/>
              </a:spcBef>
              <a:defRPr sz="1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B051BB0-01FB-4C8E-8F32-9469D50596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24325" y="0"/>
            <a:ext cx="3211513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20000"/>
              </a:spcBef>
              <a:defRPr sz="1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BDB3B51-F0FB-4F52-B229-2676F98F031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2638" y="735013"/>
            <a:ext cx="5770562" cy="3608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1FC06991-36FB-4641-9975-C3166F37E2B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9013" y="4567238"/>
            <a:ext cx="5360987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F40FF78E-93BA-4ECB-9167-BB29CA5413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34475"/>
            <a:ext cx="3133725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20000"/>
              </a:spcBef>
              <a:defRPr sz="13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81F57868-65BF-4D78-BC33-3BDA8AF167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46" tIns="47823" rIns="95646" bIns="4782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20000"/>
              </a:spcBef>
              <a:defRPr sz="1300" smtClean="0">
                <a:solidFill>
                  <a:schemeClr val="tx1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7E5B143E-8ED9-4E41-BE97-ED70415178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19911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82268CCC-9602-4464-A0B6-B691BDBB82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46" tIns="47823" rIns="95646" bIns="47823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8728277D-15B3-4591-AE48-0D38E46D62D5}" type="slidenum">
              <a:rPr lang="en-US" altLang="ko-KR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E71F720-6408-406A-BF28-E7DE3F7D9E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AED8DC9-A7BA-4A7D-B0E7-678DE12CC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4DC1AC2D-05CF-4FF3-88D9-10C7284C7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11CB7425-3B98-4A56-BE7A-2EE2E09E5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4A5782B5-A851-44E3-919F-531D6F1E9274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08EFB1A7-1BAA-4AEB-814F-3A1B4DEA9BE7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4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5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6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7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8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9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0661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10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11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4647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12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13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14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15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4668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16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17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18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19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20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21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22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23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24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25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26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27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28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29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30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31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32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33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34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35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36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37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38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39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5359BEB6-2E26-433D-9040-208110433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B4A357F0-D8C7-4A2C-B063-11F9C9F7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/>
          <a:lstStyle/>
          <a:p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9CE78667-5762-4EDD-BFC2-40B4C79173F2}"/>
              </a:ext>
            </a:extLst>
          </p:cNvPr>
          <p:cNvSpPr txBox="1">
            <a:spLocks noGrp="1"/>
          </p:cNvSpPr>
          <p:nvPr/>
        </p:nvSpPr>
        <p:spPr bwMode="auto">
          <a:xfrm>
            <a:off x="4124325" y="9134475"/>
            <a:ext cx="3211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33" tIns="47816" rIns="95633" bIns="47816" anchor="b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20000"/>
              </a:spcBef>
            </a:pPr>
            <a:fld id="{FA3D5E6F-B005-49C1-A41B-BFBCF4B8A914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 algn="r" eaLnBrk="1" latinLnBrk="1" hangingPunct="1">
                <a:spcBef>
                  <a:spcPct val="20000"/>
                </a:spcBef>
              </a:pPr>
              <a:t>40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9C81F03-5447-4509-9360-C25522DB7D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ABE2914E-24FA-49D4-A7F3-850572D88220}" type="slidenum">
              <a:rPr lang="ko-KR" altLang="en-US" sz="1300">
                <a:solidFill>
                  <a:schemeClr val="tx1"/>
                </a:solidFill>
                <a:latin typeface="굴림" panose="020B0600000101010101" pitchFamily="50" charset="-127"/>
              </a:rPr>
              <a:pPr/>
              <a:t>41</a:t>
            </a:fld>
            <a:endParaRPr lang="en-US" altLang="ko-KR" sz="1300">
              <a:solidFill>
                <a:schemeClr val="tx1"/>
              </a:solidFill>
              <a:latin typeface="굴림" panose="020B0600000101010101" pitchFamily="50" charset="-127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B0CEE49-8A1B-4163-9848-65AE26709B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427675B-07B4-44D0-93BF-4B2A4865D7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0474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8268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9588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6132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3452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02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268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464523"/>
      </p:ext>
    </p:extLst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9975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2215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73703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5856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333500"/>
            <a:ext cx="4038600" cy="18216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333500"/>
            <a:ext cx="4038600" cy="18216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57200" y="3282157"/>
            <a:ext cx="4038600" cy="18229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8200" y="3282157"/>
            <a:ext cx="4038600" cy="18229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8083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28865"/>
            <a:ext cx="8229600" cy="48762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13217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/>
          <a:lstStyle/>
          <a:p>
            <a:pPr lvl="0"/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53164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33500"/>
            <a:ext cx="4038600" cy="18216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282157"/>
            <a:ext cx="4038600" cy="18229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384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6AE82-3629-47DA-9D81-62711010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2E59F6-B948-4B1B-B931-8F47AB52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48580A-C8B4-4832-B8B6-6C0FC3DD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0A6DF-E5F8-4F34-B018-28162B496F4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562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127CAE-7546-4F0E-B7FB-F160671A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A160F-3661-481F-A563-D13745EB1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33B4EE-5E40-4DCB-8BC0-E04E2DF5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C950D-1D11-4C1A-BB9A-21089C55AE4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455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8A1F7-554B-45AD-AEEB-13BF5D27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3DD112-FE99-4E10-8938-62633123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FF070D-D83F-4E04-B57E-A9D55082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EF65E-540D-4713-8115-5C04BED4025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534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890D793-0947-4F69-9FBF-FD73BB294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B4C38A6-AB56-4574-BEFF-D74B1FE2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7D2F06A-3CB8-4D74-A491-CAC016E4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ACE91-E671-460E-9C15-06FC687135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611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92649A5-B79F-414D-BB41-EFA3D9251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08FF8579-8D64-472C-8FFC-C9CC6600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D881CAF0-19B3-42D5-94E6-71439B43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ED3E6-6494-4FCF-82CF-6056BD3434C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349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DBB70170-9B37-4C69-A784-112A3FDF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DAF3671-E020-4BA5-B98E-0753B03EA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BA93461-E12B-405E-B85D-980DBB9D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1F7C8-85BB-44EC-A195-90F1C464EBA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624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C0352F4-D07C-44EA-A48E-3B2D7E19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75D49AD5-599C-4963-8E71-20A79095D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ACF10C2-D3FD-4E7E-BAA1-CEC41C4D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8745E-2CB9-4817-BBBF-4CE06B98EB3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4405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FDA83C3-C84F-4F12-BDA8-751E03FEB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573CFA8-C3DF-41B2-8D90-D0791B27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3193E28-E2AA-4B92-8B46-3D23FB54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11000-8757-430C-BBFD-7439D3AE495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49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C82FA7D-945F-42AB-877F-E352AD53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34B3A37-5DA8-4C7A-B150-483608EA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8295B42-4B30-4FD3-8374-D871B866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407CE-773F-4FF3-A77B-370E56531E7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8439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6222D-FFF5-48E2-AB76-F1FE7CC6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DFE94C-77B5-4511-BD74-53071A28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668D54-148A-49A2-B8D3-D1E524C3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D0B16-CB85-4D8D-B78E-78BAE4B799E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343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2B748-5CC1-4828-889D-D02D5C95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13C8D6-E93C-4BEE-97B8-1C93C7F2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E3FCEA-709B-4F73-BB36-3401A332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8E205-EA71-467B-8581-76735AF120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15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C1D204B5-3DE5-47FC-9941-1BB5C6F46F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9144000" cy="5842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Rectangle 12">
            <a:extLst>
              <a:ext uri="{FF2B5EF4-FFF2-40B4-BE49-F238E27FC236}">
                <a16:creationId xmlns:a16="http://schemas.microsoft.com/office/drawing/2014/main" id="{85F628C5-D645-4EE2-BB8D-C471AE180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520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endParaRPr kumimoji="0" lang="ko-KR" altLang="ko-KR" sz="1200">
              <a:solidFill>
                <a:schemeClr val="tx1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01D2EC16-CBF0-42B1-9588-01EA6C61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6263"/>
            <a:ext cx="9144000" cy="476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6078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transition>
    <p:fade thruBlk="1"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>
            <a:extLst>
              <a:ext uri="{FF2B5EF4-FFF2-40B4-BE49-F238E27FC236}">
                <a16:creationId xmlns:a16="http://schemas.microsoft.com/office/drawing/2014/main" id="{BF7452A8-CC32-454F-A486-613597B524B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>
            <a:extLst>
              <a:ext uri="{FF2B5EF4-FFF2-40B4-BE49-F238E27FC236}">
                <a16:creationId xmlns:a16="http://schemas.microsoft.com/office/drawing/2014/main" id="{0EB2901E-F719-407B-B465-B18A6AB608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49846A-5C1F-4285-BE91-C821D4E43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굴림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87142C-D549-4BC6-AC94-D45930D57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굴림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98F65-402A-4462-AB4D-1F4C69AD3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5DA587-A1A7-4234-AF81-BAAD0E83F7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34" charset="-127"/>
          <a:ea typeface="맑은 고딕" pitchFamily="34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34" charset="-127"/>
          <a:ea typeface="맑은 고딕" pitchFamily="34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34" charset="-127"/>
          <a:ea typeface="맑은 고딕" pitchFamily="34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34" charset="-127"/>
          <a:ea typeface="맑은 고딕" pitchFamily="34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0">
            <a:extLst>
              <a:ext uri="{FF2B5EF4-FFF2-40B4-BE49-F238E27FC236}">
                <a16:creationId xmlns:a16="http://schemas.microsoft.com/office/drawing/2014/main" id="{62060FB3-306E-4D34-81AC-71DFE2F3C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3313113"/>
            <a:ext cx="4679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2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2023. 06. 26</a:t>
            </a:r>
          </a:p>
        </p:txBody>
      </p:sp>
      <p:grpSp>
        <p:nvGrpSpPr>
          <p:cNvPr id="6147" name="Group 303">
            <a:extLst>
              <a:ext uri="{FF2B5EF4-FFF2-40B4-BE49-F238E27FC236}">
                <a16:creationId xmlns:a16="http://schemas.microsoft.com/office/drawing/2014/main" id="{CEBF3463-69E7-4F03-B2FD-E16F8770E1B7}"/>
              </a:ext>
            </a:extLst>
          </p:cNvPr>
          <p:cNvGrpSpPr>
            <a:grpSpLocks/>
          </p:cNvGrpSpPr>
          <p:nvPr/>
        </p:nvGrpSpPr>
        <p:grpSpPr bwMode="auto">
          <a:xfrm>
            <a:off x="0" y="1236663"/>
            <a:ext cx="9144000" cy="1020762"/>
            <a:chOff x="0" y="1888"/>
            <a:chExt cx="5760" cy="531"/>
          </a:xfrm>
        </p:grpSpPr>
        <p:sp>
          <p:nvSpPr>
            <p:cNvPr id="6149" name="Rectangle 304">
              <a:extLst>
                <a:ext uri="{FF2B5EF4-FFF2-40B4-BE49-F238E27FC236}">
                  <a16:creationId xmlns:a16="http://schemas.microsoft.com/office/drawing/2014/main" id="{D8AB0C9D-A48C-4574-88E6-FC182D43F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91"/>
              <a:ext cx="192" cy="528"/>
            </a:xfrm>
            <a:prstGeom prst="rect">
              <a:avLst/>
            </a:prstGeom>
            <a:solidFill>
              <a:srgbClr val="003366">
                <a:alpha val="8196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62000" tIns="0" rIns="0" bIns="0" anchor="ctr"/>
            <a:lstStyle>
              <a:lvl1pPr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lnSpc>
                  <a:spcPct val="120000"/>
                </a:lnSpc>
              </a:pPr>
              <a:endParaRPr lang="ko-KR" altLang="en-US" sz="1400">
                <a:solidFill>
                  <a:schemeClr val="tx1"/>
                </a:solidFill>
                <a:latin typeface="굴림" panose="020B0600000101010101" pitchFamily="50" charset="-127"/>
              </a:endParaRPr>
            </a:p>
          </p:txBody>
        </p:sp>
        <p:sp>
          <p:nvSpPr>
            <p:cNvPr id="6150" name="Rectangle 305">
              <a:extLst>
                <a:ext uri="{FF2B5EF4-FFF2-40B4-BE49-F238E27FC236}">
                  <a16:creationId xmlns:a16="http://schemas.microsoft.com/office/drawing/2014/main" id="{BF478003-A78F-480C-A3B5-6F6006E2B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" y="1888"/>
              <a:ext cx="4923" cy="528"/>
            </a:xfrm>
            <a:prstGeom prst="rect">
              <a:avLst/>
            </a:prstGeom>
            <a:solidFill>
              <a:srgbClr val="003366">
                <a:alpha val="8196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62000" tIns="0" rIns="0" bIns="0" anchor="ctr"/>
            <a:lstStyle>
              <a:lvl1pPr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lnSpc>
                  <a:spcPct val="120000"/>
                </a:lnSpc>
              </a:pPr>
              <a:endParaRPr lang="ko-KR" altLang="en-US" sz="1400" dirty="0">
                <a:solidFill>
                  <a:schemeClr val="tx1"/>
                </a:solidFill>
                <a:latin typeface="굴림" panose="020B0600000101010101" pitchFamily="50" charset="-127"/>
              </a:endParaRPr>
            </a:p>
          </p:txBody>
        </p:sp>
        <p:sp>
          <p:nvSpPr>
            <p:cNvPr id="6151" name="Text Box 306">
              <a:extLst>
                <a:ext uri="{FF2B5EF4-FFF2-40B4-BE49-F238E27FC236}">
                  <a16:creationId xmlns:a16="http://schemas.microsoft.com/office/drawing/2014/main" id="{64EA9ABE-1BB9-4E7E-9E32-2121A768E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50"/>
              <a:ext cx="485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62000" tIns="0" rIns="0" bIns="0" anchor="ctr"/>
            <a:lstStyle>
              <a:lvl1pPr defTabSz="865188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865188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865188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865188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865188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spcBef>
                  <a:spcPts val="0"/>
                </a:spcBef>
              </a:pPr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YÊU CẦU PHÁT TRIỂN THÊM CHO MES</a:t>
              </a:r>
            </a:p>
            <a:p>
              <a:pPr algn="ctr" eaLnBrk="1" latinLnBrk="1" hangingPunct="1">
                <a:spcBef>
                  <a:spcPts val="0"/>
                </a:spcBef>
              </a:pPr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MES</a:t>
              </a:r>
              <a:r>
                <a:rPr lang="ko-KR" altLang="en-US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추가 요청 사항</a:t>
              </a:r>
            </a:p>
          </p:txBody>
        </p:sp>
        <p:sp>
          <p:nvSpPr>
            <p:cNvPr id="6152" name="Rectangle 307">
              <a:extLst>
                <a:ext uri="{FF2B5EF4-FFF2-40B4-BE49-F238E27FC236}">
                  <a16:creationId xmlns:a16="http://schemas.microsoft.com/office/drawing/2014/main" id="{6F0C6A60-ED6A-4779-AB72-B084D6912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1888"/>
              <a:ext cx="172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62000" tIns="0" rIns="0" bIns="0" anchor="ctr"/>
            <a:lstStyle>
              <a:lvl1pPr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lnSpc>
                  <a:spcPct val="120000"/>
                </a:lnSpc>
              </a:pPr>
              <a:endParaRPr lang="ko-KR" altLang="en-US" sz="1400">
                <a:solidFill>
                  <a:schemeClr val="tx1"/>
                </a:solidFill>
                <a:latin typeface="굴림" panose="020B0600000101010101" pitchFamily="50" charset="-127"/>
              </a:endParaRPr>
            </a:p>
          </p:txBody>
        </p:sp>
        <p:sp>
          <p:nvSpPr>
            <p:cNvPr id="6153" name="Rectangle 308">
              <a:extLst>
                <a:ext uri="{FF2B5EF4-FFF2-40B4-BE49-F238E27FC236}">
                  <a16:creationId xmlns:a16="http://schemas.microsoft.com/office/drawing/2014/main" id="{CAE02BF3-4618-46C7-BFE7-24542085A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5" y="1888"/>
              <a:ext cx="192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62000" tIns="0" rIns="0" bIns="0" anchor="ctr"/>
            <a:lstStyle>
              <a:lvl1pPr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lnSpc>
                  <a:spcPct val="120000"/>
                </a:lnSpc>
              </a:pPr>
              <a:endParaRPr lang="ko-KR" altLang="en-US" sz="1400">
                <a:solidFill>
                  <a:schemeClr val="tx1"/>
                </a:solidFill>
                <a:latin typeface="굴림" panose="020B0600000101010101" pitchFamily="50" charset="-127"/>
              </a:endParaRPr>
            </a:p>
          </p:txBody>
        </p:sp>
        <p:sp>
          <p:nvSpPr>
            <p:cNvPr id="6154" name="Rectangle 309">
              <a:extLst>
                <a:ext uri="{FF2B5EF4-FFF2-40B4-BE49-F238E27FC236}">
                  <a16:creationId xmlns:a16="http://schemas.microsoft.com/office/drawing/2014/main" id="{0DA1EDAD-3288-4CF4-9694-F266FCE70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" y="1888"/>
              <a:ext cx="192" cy="528"/>
            </a:xfrm>
            <a:prstGeom prst="rect">
              <a:avLst/>
            </a:prstGeom>
            <a:solidFill>
              <a:srgbClr val="003366">
                <a:alpha val="8196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62000" tIns="0" rIns="0" bIns="0" anchor="ctr"/>
            <a:lstStyle>
              <a:lvl1pPr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lnSpc>
                  <a:spcPct val="120000"/>
                </a:lnSpc>
              </a:pPr>
              <a:endParaRPr lang="ko-KR" altLang="en-US" sz="1400">
                <a:solidFill>
                  <a:schemeClr val="tx1"/>
                </a:solidFill>
                <a:latin typeface="굴림" panose="020B0600000101010101" pitchFamily="50" charset="-127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7">
            <a:extLst>
              <a:ext uri="{FF2B5EF4-FFF2-40B4-BE49-F238E27FC236}">
                <a16:creationId xmlns:a16="http://schemas.microsoft.com/office/drawing/2014/main" id="{68EDBB69-6A74-486F-92CE-547973062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636812"/>
            <a:ext cx="2200275" cy="5222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CA56FD8F-7A74-49CF-ACC3-E3359C28C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25" y="1440670"/>
            <a:ext cx="4803775" cy="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155FA599-A011-4243-976F-870C745CE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584" y="882650"/>
            <a:ext cx="0" cy="43815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245" name="Picture 31" descr="module">
            <a:extLst>
              <a:ext uri="{FF2B5EF4-FFF2-40B4-BE49-F238E27FC236}">
                <a16:creationId xmlns:a16="http://schemas.microsoft.com/office/drawing/2014/main" id="{E2843D16-26D0-4C15-B1D6-AB922064C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8002" y="1104107"/>
            <a:ext cx="34718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AutoShape 11">
            <a:extLst>
              <a:ext uri="{FF2B5EF4-FFF2-40B4-BE49-F238E27FC236}">
                <a16:creationId xmlns:a16="http://schemas.microsoft.com/office/drawing/2014/main" id="{78243048-3249-4BFA-B4A9-71C1135A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167" y="1159099"/>
            <a:ext cx="8172400" cy="4572346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/>
          <a:lstStyle>
            <a:lvl1pPr marL="457200" indent="-4572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 eaLnBrk="1" latinLnBrk="1" hangingPunct="1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A.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Mong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chung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MES </a:t>
            </a:r>
          </a:p>
          <a:p>
            <a:pPr marL="0" indent="0" eaLnBrk="1" latinLnBrk="1" hangingPunct="1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공통 요청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1" hangingPunct="1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B.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Mong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tiết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각부서 요구사항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Kinh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doanh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경영부서 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Planning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부서 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Kho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 부서 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 </a:t>
            </a:r>
            <a:r>
              <a:rPr lang="en-US" altLang="ko-KR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</a:t>
            </a:r>
            <a:r>
              <a:rPr lang="en-US" altLang="ko-KR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QC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IE </a:t>
            </a:r>
            <a:r>
              <a:rPr lang="en-US" altLang="ko-KR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IE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R&amp;D </a:t>
            </a:r>
            <a:r>
              <a:rPr lang="en-US" altLang="ko-KR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R&amp;D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AutoNum type="romanUcPeriod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Admin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관리팀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D879F19B-8E58-4E82-BEEB-E312E8335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931" y="1614488"/>
            <a:ext cx="3311525" cy="3649662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400050" indent="-400050" eaLnBrk="1" latinLnBrk="1" hangingPunct="1">
              <a:lnSpc>
                <a:spcPct val="150000"/>
              </a:lnSpc>
              <a:buFont typeface="+mj-lt"/>
              <a:buAutoNum type="romanUcPeriod" startAt="11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GA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총무 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Font typeface="+mj-lt"/>
              <a:buAutoNum type="romanUcPeriod" startAt="11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Logistic </a:t>
            </a:r>
            <a:r>
              <a:rPr lang="en-US" altLang="ko-KR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Font typeface="+mj-lt"/>
              <a:buAutoNum type="romanUcPeriod" startAt="11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 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Font typeface="+mj-lt"/>
              <a:buAutoNum type="romanUcPeriod" startAt="11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 </a:t>
            </a:r>
            <a:r>
              <a:rPr lang="en-US" altLang="ko-KR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Font typeface="+mj-lt"/>
              <a:buAutoNum type="romanUcPeriod" startAt="11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Cải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Tiến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0050" indent="-400050" eaLnBrk="1" latinLnBrk="1" hangingPunct="1">
              <a:lnSpc>
                <a:spcPct val="150000"/>
              </a:lnSpc>
              <a:buFont typeface="+mj-lt"/>
              <a:buAutoNum type="romanUcPeriod" startAt="11"/>
            </a:pP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Kê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 </a:t>
            </a:r>
          </a:p>
          <a:p>
            <a:pPr eaLnBrk="1" latinLnBrk="1" hangingPunct="1">
              <a:lnSpc>
                <a:spcPct val="150000"/>
              </a:lnSpc>
              <a:buFontTx/>
              <a:buAutoNum type="arabicPeriod" startAt="13"/>
            </a:pP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40871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A. MONG MUỐN CHUNG TỪ MES </a:t>
            </a:r>
            <a:r>
              <a:rPr lang="en-US" altLang="ko-KR" sz="20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공통 소망</a:t>
            </a:r>
            <a:endParaRPr lang="ko-KR" altLang="en-US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60" y="625252"/>
            <a:ext cx="8892480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sz="1000" dirty="0">
                <a:solidFill>
                  <a:srgbClr val="0000CC"/>
                </a:solidFill>
              </a:rPr>
              <a:t>I. </a:t>
            </a:r>
            <a:r>
              <a:rPr lang="en-US" sz="1000" dirty="0" err="1">
                <a:solidFill>
                  <a:srgbClr val="0000CC"/>
                </a:solidFill>
              </a:rPr>
              <a:t>Tất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cả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cả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các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công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nhân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viên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các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công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đoạn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các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bộ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phận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có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thể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sử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dụng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được</a:t>
            </a:r>
            <a:r>
              <a:rPr lang="en-US" sz="1000" dirty="0">
                <a:solidFill>
                  <a:srgbClr val="0000CC"/>
                </a:solidFill>
              </a:rPr>
              <a:t> MES </a:t>
            </a:r>
            <a:r>
              <a:rPr lang="en-US" sz="1000" dirty="0" err="1">
                <a:solidFill>
                  <a:srgbClr val="0000CC"/>
                </a:solidFill>
              </a:rPr>
              <a:t>để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thực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hiện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công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việc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khai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thác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dữ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liệu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trên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hệ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thống</a:t>
            </a:r>
            <a:r>
              <a:rPr lang="en-US" sz="1000" dirty="0">
                <a:solidFill>
                  <a:srgbClr val="0000CC"/>
                </a:solidFill>
              </a:rPr>
              <a:t> MES </a:t>
            </a:r>
            <a:r>
              <a:rPr lang="en-US" sz="1000" dirty="0" err="1">
                <a:solidFill>
                  <a:srgbClr val="0000CC"/>
                </a:solidFill>
              </a:rPr>
              <a:t>để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tiết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kiệm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thời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gian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số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liệu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dữ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liệu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chính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xác</a:t>
            </a:r>
            <a:r>
              <a:rPr lang="en-US" sz="1000" dirty="0">
                <a:solidFill>
                  <a:srgbClr val="0000CC"/>
                </a:solidFill>
              </a:rPr>
              <a:t>. </a:t>
            </a:r>
            <a:r>
              <a:rPr lang="en-US" sz="1000" dirty="0" err="1">
                <a:solidFill>
                  <a:srgbClr val="0000CC"/>
                </a:solidFill>
              </a:rPr>
              <a:t>Hiện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tại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đang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làm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việc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thủ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công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quá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nhiều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thời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gian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nhập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liệu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trùng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lặp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mất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thời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gian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sz="1000" dirty="0" err="1">
                <a:solidFill>
                  <a:srgbClr val="0000CC"/>
                </a:solidFill>
              </a:rPr>
              <a:t>mức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độ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chính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xác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thấp</a:t>
            </a:r>
            <a:r>
              <a:rPr lang="en-US" sz="1000" dirty="0">
                <a:solidFill>
                  <a:srgbClr val="0000CC"/>
                </a:solidFill>
              </a:rPr>
              <a:t>, </a:t>
            </a:r>
            <a:r>
              <a:rPr lang="en-US" sz="1000" dirty="0" err="1">
                <a:solidFill>
                  <a:srgbClr val="0000CC"/>
                </a:solidFill>
              </a:rPr>
              <a:t>thiếu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kiểm</a:t>
            </a: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en-US" sz="1000" dirty="0" err="1">
                <a:solidFill>
                  <a:srgbClr val="0000CC"/>
                </a:solidFill>
              </a:rPr>
              <a:t>chứng</a:t>
            </a:r>
            <a:r>
              <a:rPr lang="en-US" sz="1000" dirty="0">
                <a:solidFill>
                  <a:srgbClr val="0000CC"/>
                </a:solidFill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sz="1000" dirty="0">
                <a:solidFill>
                  <a:srgbClr val="0000CC"/>
                </a:solidFill>
              </a:rPr>
              <a:t> </a:t>
            </a:r>
            <a:r>
              <a:rPr lang="ko-KR" altLang="en-US" sz="1000" dirty="0">
                <a:solidFill>
                  <a:schemeClr val="tx2"/>
                </a:solidFill>
              </a:rPr>
              <a:t>각부서</a:t>
            </a:r>
            <a:r>
              <a:rPr lang="en-US" altLang="ko-KR" sz="1000" dirty="0">
                <a:solidFill>
                  <a:schemeClr val="tx2"/>
                </a:solidFill>
              </a:rPr>
              <a:t>,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공정별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 err="1">
                <a:solidFill>
                  <a:schemeClr val="tx2"/>
                </a:solidFill>
              </a:rPr>
              <a:t>인원별</a:t>
            </a:r>
            <a:r>
              <a:rPr lang="ko-KR" altLang="en-US" sz="1000" dirty="0">
                <a:solidFill>
                  <a:schemeClr val="tx2"/>
                </a:solidFill>
              </a:rPr>
              <a:t> 모두 다 </a:t>
            </a:r>
            <a:r>
              <a:rPr lang="en-US" altLang="ko-KR" sz="1000" dirty="0">
                <a:solidFill>
                  <a:schemeClr val="tx2"/>
                </a:solidFill>
              </a:rPr>
              <a:t>MES</a:t>
            </a:r>
            <a:r>
              <a:rPr lang="ko-KR" altLang="en-US" sz="1000" dirty="0">
                <a:solidFill>
                  <a:schemeClr val="tx2"/>
                </a:solidFill>
              </a:rPr>
              <a:t>를 사용할 수 있게 하여 </a:t>
            </a:r>
            <a:r>
              <a:rPr lang="en-US" altLang="ko-KR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>
                <a:solidFill>
                  <a:schemeClr val="tx2"/>
                </a:solidFill>
              </a:rPr>
              <a:t>업무 시행 및</a:t>
            </a:r>
            <a:r>
              <a:rPr lang="en-US" altLang="ko-KR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데이다를</a:t>
            </a:r>
            <a:r>
              <a:rPr lang="ko-KR" altLang="en-US" sz="1000" dirty="0">
                <a:solidFill>
                  <a:schemeClr val="tx2"/>
                </a:solidFill>
              </a:rPr>
              <a:t> 출력하며 작업 시간 단축</a:t>
            </a:r>
            <a:r>
              <a:rPr lang="en-US" altLang="ko-KR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>
                <a:solidFill>
                  <a:schemeClr val="tx2"/>
                </a:solidFill>
              </a:rPr>
              <a:t>및 정확한  데이터 수집을 목적으로 한다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>
                <a:solidFill>
                  <a:schemeClr val="tx2"/>
                </a:solidFill>
              </a:rPr>
              <a:t>현재 수 작업 많고 데이다 입력 중복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시간 걸림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정확정도 낮음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검증 부족 하다</a:t>
            </a:r>
            <a:endParaRPr lang="en-US" sz="1000" dirty="0">
              <a:solidFill>
                <a:schemeClr val="tx2"/>
              </a:solidFill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II.</a:t>
            </a:r>
            <a:r>
              <a:rPr lang="ko-KR" altLang="en-US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lẫn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suốt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ngắt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nay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b="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각자 각부서의 데이다가 연결성이 서로 있어야 하고 모든 데이다가 처음부터 끝까지 원활하게 연결되어 있어야 하지만 현재 모든 데이다가 중간중간에 불연속적으로 된다   </a:t>
            </a:r>
            <a:r>
              <a:rPr lang="en-US" altLang="ko-KR" sz="1000" b="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35329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820891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B. MONG MUỐN CHI TIẾT TỪ CÁC BỘ PHẬN 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각부서의 소망</a:t>
            </a:r>
            <a:endParaRPr lang="ko-KR" altLang="en-US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841276"/>
            <a:ext cx="8829808" cy="4293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Ban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giám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đốc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ở F2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triển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thêm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gì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vấn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đề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gì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hãy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trao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đổi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đề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Mr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Yun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xử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. Sau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đây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F2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đưa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ra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mong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chi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tiết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nhưng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tất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cả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bổ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sung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thêm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giai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đoạn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)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nhưng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mong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ngay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nhưng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bước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nội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dung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phù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thuộc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Mr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Yun)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경경진은 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2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공장에게 뭐가 개발 필요한지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문제가 무엇인지 윤 부장님에게 제의하여 조치하라고 했다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다음과 같은 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2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공장은 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에 대한 원하는 내용을 상세하게 말씀드리지만 아마 몇가지 바로 개발할 수 있으나 몇가지가 개발하고 싶으면 시간이 걸리거나 개발 못하는 것도 있는 것 같다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이 내용들은 윤 부장님에 달려 있음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)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triển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개발할 때 어려운 사항이 몇가지가 있음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nói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bằng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thích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cụ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hiểu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베트남 사람끼리 서로 얘기하거나 서로 설명하지만 상대방의 생각에 대한 이해도는 떨어진다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ngoại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dịch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dịch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Mr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Yun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hiểu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vọng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hiểu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triển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ưu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ty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nhằm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thiểu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sót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 한국어 표현할 때 용어를 많이 사용해서 통역자가 윤 부장님에게 통역할 때 요구하는 사람의 요청 사항에  모두 다 전달하는 것은 매우 힘든다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그렇기 때문에 업무 작업 시간 단축하고 정확한 </a:t>
            </a:r>
            <a:r>
              <a:rPr lang="ko-KR" altLang="en-US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데이타를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전달하고 최적화 </a:t>
            </a:r>
            <a:r>
              <a:rPr lang="ko-KR" altLang="en-US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하기위해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서는 모든 사람들이 서로 협조하여 요구 하는 사람들과 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사항을 최대한 이해할 수 있도록 최선을 </a:t>
            </a:r>
            <a:r>
              <a:rPr lang="ko-KR" altLang="en-US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다해야한다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ko-KR" altLang="en-US" sz="12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24428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98477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I. NHU CẦU BỘ PHẬN KINH DOANH 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경영부서 요구사항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51" y="597079"/>
            <a:ext cx="8964488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1.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Ngay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BOM,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Tect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Time, Drawing, Quantity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gia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ngay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   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BOM, Takt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time, 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도면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수량을 접수후 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는 그 제품에 관련 가공 원가나 제작 원가를 바로 계산 가능 </a:t>
            </a:r>
            <a:r>
              <a:rPr lang="ko-KR" altLang="en-US" sz="1000" dirty="0" err="1">
                <a:solidFill>
                  <a:schemeClr val="tx2"/>
                </a:solidFill>
                <a:ea typeface="맑은 고딕" panose="020B0503020000020004" pitchFamily="50" charset="-127"/>
              </a:rPr>
              <a:t>할수</a:t>
            </a:r>
            <a:r>
              <a:rPr lang="ko-KR" altLang="en-US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 있도록 한다</a:t>
            </a:r>
            <a:r>
              <a:rPr lang="en-US" altLang="ko-KR" sz="1000" dirty="0">
                <a:solidFill>
                  <a:schemeClr val="tx2"/>
                </a:solidFill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xây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thuê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xưởng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nước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khấu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gói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nhuận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상기 내용을 시행하고 싶으면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계산 초지를 수립해 줘야 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예를들어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직접직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간접직에 대한 인건비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공장 임대비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전기요금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수도요금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감가 상각비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운송비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이익등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그부터 전산에서 계산 공식을 제출하고 신규 제품에 관련 데이다를 받을 때 그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데이타만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전산에 입력하고 원가가 얼마인지 자동으로 산출되게 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mẫu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고객사가 우리에게 정보 및 샘플을 주고 있고 가격도 미리 지정해 줬으며 우리는 그 대로 제작했으나 이윤이나 손실이 얼마인지 잘모르고 있음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제작하다가 어느 시점에 손실을 알게 되면 아래와 같이 부적합 발생한다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 손실 발생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손실을 알게 될 때 가격이 올리고 싶으면 어렵고 올린 정도도 낮음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nắm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họ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luôn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고객사가 우리 약점을 알면서 신규 제품을 줄 때 항상 낮은 가격을 준다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Symbol"/>
              <a:buChar char="Þ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손실 많이 발생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이익이 있어도 별로 없음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ít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Excel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lúc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ngay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chênh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lệch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ngay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tốt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chốt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bước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Trước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đây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cứ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vậy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8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doanh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전산으로 수립되면 빨르고 효과율이 높고 아니면 엑셀 파일로 수식을 걸리고 신규 제품의 정보를 받을 때 바로 가격을 계산할 수 있고 고객사 내 주는 가격과 비교하여 차이점을 제출하고 고객사와 협의하여 제일 좋은 가격을 이룰 수 있는다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가격이 미리 확정후에 제작 진행하는 듯임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그전에 우리는 계속 고객사에 따라 가지만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되니깐 우리는 바꿔야 하고 제작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경영에 효과율이 높아진다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doanh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동시에 경영부가 관련 부서의 여러 데이다를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가능하고 고객사와 같이 협의한다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36283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7272808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II. NHU CẦU BỘ PHẬN KẾ HOẠCH </a:t>
            </a:r>
            <a:r>
              <a:rPr lang="en-US" altLang="ko-KR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Planning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요구사항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09228"/>
            <a:ext cx="8506280" cy="47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1. Khi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kinh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doanh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gửi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ea typeface="맑은 고딕" panose="020B0503020000020004" pitchFamily="50" charset="-127"/>
              </a:rPr>
              <a:t>경영부는 고객사의 발주를 접수 후 </a:t>
            </a:r>
            <a:r>
              <a:rPr lang="en-US" altLang="ko-KR" sz="1000" dirty="0">
                <a:solidFill>
                  <a:schemeClr val="tx1"/>
                </a:solidFill>
                <a:ea typeface="맑은 고딕" panose="020B0503020000020004" pitchFamily="50" charset="-127"/>
              </a:rPr>
              <a:t>Planning</a:t>
            </a:r>
            <a:r>
              <a:rPr lang="ko-KR" altLang="en-US" sz="1000" dirty="0">
                <a:solidFill>
                  <a:schemeClr val="tx1"/>
                </a:solidFill>
                <a:ea typeface="맑은 고딕" panose="020B0503020000020004" pitchFamily="50" charset="-127"/>
              </a:rPr>
              <a:t>부에게 준다</a:t>
            </a:r>
            <a:endParaRPr lang="en-US" altLang="ko-KR" sz="1000" dirty="0">
              <a:solidFill>
                <a:schemeClr val="tx1"/>
              </a:solidFill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MES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7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2023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Planning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품번별로 발주 수량을 등록하면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아래와 같은 데이다를 보여줌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예를들어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발주 경우에는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1233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1233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5,000 EA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2332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2332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품번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1,000 EA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 TIN MES TỪ KHO XUẤT HIỆN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상에 창고장에 나오는 데이다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 TIN MES TỪ FA XUẤT HIỆN (Sau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NVL NG)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FA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상에 나오는 데이다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생산과정에 불량 제품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불량 수량을 차감 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354573"/>
              </p:ext>
            </p:extLst>
          </p:nvPr>
        </p:nvGraphicFramePr>
        <p:xfrm>
          <a:off x="432704" y="2497460"/>
          <a:ext cx="8208912" cy="114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ĐƠN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HÀNG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ko-KR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TỒN THÀNH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PHẦM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완제품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CẦN SẢN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XUẤT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THÊM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추가 생산 필요량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LƯU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Ý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주의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624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8271A-38030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00645"/>
              </p:ext>
            </p:extLst>
          </p:nvPr>
        </p:nvGraphicFramePr>
        <p:xfrm>
          <a:off x="395536" y="4153644"/>
          <a:ext cx="8640961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8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2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4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TỒN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BÁN THÀNH PHẨM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반제품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TỒN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NVL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원자재 재공재고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CẦN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THÊM NVL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원자재 추가 필요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NGÀY CẦN SẢN XUẤT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제작 소요 시간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LƯU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Ý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주의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Bấm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vào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lượng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NVL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thiếu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thì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hiển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thị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BOM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của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hàng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này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부족한 원자재에 누르면 이 품번의 </a:t>
                      </a:r>
                      <a:r>
                        <a:rPr kumimoji="1" lang="en-US" altLang="ko-KR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BOM</a:t>
                      </a:r>
                      <a:r>
                        <a:rPr kumimoji="1" lang="ko-KR" altLang="en-US" sz="8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을 나옴</a:t>
                      </a:r>
                      <a:endParaRPr kumimoji="1" 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8271A-38030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4492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552728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II. NHU CẦU BỘ PHẬN KẾ HOẠCH </a:t>
            </a:r>
            <a:r>
              <a:rPr lang="en-US" altLang="ko-KR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Planning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부의 소요</a:t>
            </a:r>
            <a:endParaRPr lang="ko-KR" altLang="en-US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27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2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 TIN MES TỪ CTLP XUẤT HIỆN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Hookrack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2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2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Cutting, Seal, Tube, Crimping, Heating, Twisting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Symbol"/>
              <a:buChar char="Þ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kê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list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cutting LP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nút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up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up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qua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bước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Cutting, Seal, Tube, Crimping, Heating, Twisting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공정에는 상기 정보도 나올 수 있게 한다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에 저절로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생산해야하는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Lead List,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수량을 나오고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Planning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CTLP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팀은 다시 확인하고 필요하면 조정하고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Confirm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버튼을 누르면 오더가 스스로 전산에 등록 될 수 있다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현재는 수기로 작업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시간이 많이 소요되고 오더 등록 절차가 많아 시간이 많이 걸림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lùi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자재는 완제품 여러 품번을 공용해서 품번별로 발주 수량을 등록할 때 전산은 공용 자재를 구분할 수 있고 공용자재를 산출할 때 스스로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차감하여 다음 생산할 때 필요한 자재 수량이 정확하게 나오게 한다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64722"/>
              </p:ext>
            </p:extLst>
          </p:nvPr>
        </p:nvGraphicFramePr>
        <p:xfrm>
          <a:off x="539552" y="1201316"/>
          <a:ext cx="820891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4029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TỒN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HR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H/R</a:t>
                      </a: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재고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CẦN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SẢN XUẤT THÊM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생산 추가 필요 수량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GIỜ/NGÀY CẦN SẢN XUẤT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제작 소요 시간</a:t>
                      </a:r>
                      <a:r>
                        <a:rPr kumimoji="1" lang="en-US" altLang="ko-KR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일수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LƯU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Ý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주의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029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21957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2473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II. NHU CẦU BỘ PHẬN KẾ HOẠCH </a:t>
            </a:r>
            <a:r>
              <a:rPr lang="en-US" altLang="ko-KR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Planning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부의 소요</a:t>
            </a:r>
            <a:endParaRPr lang="ko-KR" altLang="en-US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625252"/>
            <a:ext cx="8712968" cy="514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FA, CTLP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CTLP,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họp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chốt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chốt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sẵn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FA, CTLP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정보에 의한 전산은 예상 생산계획이 나오고 이 예상 생산계획에 의한 관련 부서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,CTLP,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창고등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들은 서로 회의하여 고객사 발주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 능력을 보고 생산계획을 확정한다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전산에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“Confirm”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버튼을 누르면 각부서가 확정된 최종 생산계획을 보일 수 있다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폴더가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미리 구성됨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매일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QC scan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생산량은 실적을 나오고 계획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달성율 나오는다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,…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07424"/>
              </p:ext>
            </p:extLst>
          </p:nvPr>
        </p:nvGraphicFramePr>
        <p:xfrm>
          <a:off x="249184" y="2500247"/>
          <a:ext cx="842960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01/07/2023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02/07/2023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Kế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hoạch</a:t>
                      </a:r>
                      <a:endParaRPr kumimoji="1" lang="en-US" sz="10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계획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Thực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tế</a:t>
                      </a:r>
                      <a:endParaRPr kumimoji="1" lang="en-US" sz="10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Tỷ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lệ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đạt</a:t>
                      </a:r>
                      <a:endParaRPr kumimoji="1" lang="en-US" sz="10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달성율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Kế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hoạch</a:t>
                      </a:r>
                      <a:endParaRPr kumimoji="1" lang="en-US" sz="10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계획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Thực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tế</a:t>
                      </a:r>
                      <a:endParaRPr kumimoji="1" lang="en-US" sz="10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Tỷ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lệ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đạt</a:t>
                      </a:r>
                      <a:endParaRPr kumimoji="1" lang="en-US" sz="10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달성율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103,5%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8271A-38030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106,7%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9239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2473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II. NHU CẦU BỘ PHẬN KẾ HOẠCH </a:t>
            </a:r>
            <a:r>
              <a:rPr lang="en-US" altLang="ko-KR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Planning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부의 소요</a:t>
            </a:r>
            <a:endParaRPr lang="ko-KR" altLang="en-US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8141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chốt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list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khẩn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bắt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luên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dịch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Mr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Cho)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đôn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thúc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khẩn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확정된 생산계획 및 실제 재고 수량에 의한 전산은 스스로 결품 일정이 나오고 긴급 자재를 나온다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결품 자재 명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결품 일자등 그리고 관련 부서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관리자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통역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Mr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Cho)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이 자료를 공유해 주고 고객사에게 긴급 자재를 빨리 보내도록 푸시한다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dịch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nhắc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부서 및 고객사의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Confirm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따라 출하 계획을 확정후에 전산은 포장 용기 재고 수량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 수량을 계산하고 창고 및 통역은 고객사에게 포장 용기를 긴급하게 송부 요청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전산은 포장 용기 결품 날자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 수량을 알람 뜬다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용기 입고되면 전산은 포장 용기 재고 수량을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Update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한다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27399"/>
              </p:ext>
            </p:extLst>
          </p:nvPr>
        </p:nvGraphicFramePr>
        <p:xfrm>
          <a:off x="390869" y="2065412"/>
          <a:ext cx="8352925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TÊN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NVL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원자재 명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ĐVT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THÔNG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TIN THIẾU</a:t>
                      </a: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부족 수량에 대한 정보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GHI CHÚ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lượng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Ngày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일자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82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FLRYWB0.75YB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Dây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Điện</a:t>
                      </a:r>
                      <a:endParaRPr kumimoji="1" lang="en-US" sz="10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전선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05/07/2023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JPT-1S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cái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12/07/2023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6090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480720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II. NHU CẦU BỘ PHẬN KẾ HOẠCH </a:t>
            </a:r>
            <a:r>
              <a:rPr lang="en-US" altLang="ko-KR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Planning</a:t>
            </a:r>
            <a:r>
              <a:rPr lang="ko-KR" altLang="en-US" sz="20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부의 소요</a:t>
            </a:r>
            <a:endParaRPr lang="ko-KR" altLang="en-US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21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cạnh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옆에 전산은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Planning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팀에게 품번별 생산계획 수량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생산성등에 대한 보여 준다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sắp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định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Tổng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tỷ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đáp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전산은 다음 선적 일정도 알려 주고 생산량이 얼마만큼 생산되는지 보여 준다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선적일정대로 제품이 재고 충분하는지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대비 선적 실적 비율이 얼마인지 보여준다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월말에 품번별로 생산계획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 어느 상태인지 알고 매월 발주대비 달성율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감소하는지 확인 가능한다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triển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triển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Planning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팀의 추가 요구 사항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완료하거나 추가 개발 사항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680501"/>
              </p:ext>
            </p:extLst>
          </p:nvPr>
        </p:nvGraphicFramePr>
        <p:xfrm>
          <a:off x="388531" y="625252"/>
          <a:ext cx="835760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5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3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41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TÊN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NVL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원자재 명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ĐVT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THÔNG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TIN THIẾU</a:t>
                      </a: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부족 정보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GHI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lượng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Ngày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결품 일자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????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Thùng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xám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1*1*1m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Cái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15/07/2023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1399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5832648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KHO-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67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 NVL TỪ KHÁCH HÀNG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고객사부터 자재 입고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XNK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file Excel  Invoice, packing list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upload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lô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invoice,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ft,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lô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nằm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đây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nhắc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nhở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sắp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chuẩn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khẩu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nâng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hiểu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nguyên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무역은 고객사의 엑셀 파일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Invoice, Packing list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접수 및 정보를 확인후 전산에 입고예정 수량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 예정 일자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종류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inv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넘버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FT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가격등 입력하고 전산은 입고 예정 분에 대한 정보를 다 나오고 관련 부서가 입고 절차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하역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 할당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지게차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잔업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확인등 알람해 주고 일정대로 입고하지 않되면 전산은 알람해 주고 관련 부서 담당자가 원인 파악 및 조치 방안 제출한다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toàn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scan 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đâu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container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vẫn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vẫn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XNK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bù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nữa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자재를 입고되면 실물을 확인 및 자재 모두 다 스캔하고 스캔할만큼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 list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빠진다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 입고 스캔했는데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 list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있는 실물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부족하면 전산은 그 자재를 표기하고 바로 회계팀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무역에게 부족 수량을 보여 주고 관련 담당자가 자재 부족 수량만큼 선적해 준다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 자재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입고되면 전산에 그 전에 부족 자재를 없앤다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입고 대기 항목에 없앤다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kỹ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thường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xuyên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nghỉ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ngắt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gây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ty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자재를 관리 및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것은 수기로 작업하고 있지만 연속 잘못 하거나 작업자가 연속 사직하면 데이다가 중간에 관리하지 않으면 회사에게 손실 시킨다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209585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5832648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KHO-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1909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XUẤT NVL CHO BỘ PHẬN SẢN XUẤT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생산팀에게 자재 불출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…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out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FIFO) ‘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Planning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팀은 전산에 의한 데이다를 보고 재공재고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반제품 재고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재고등 그리고 일일 생산계획에 따라 원자재 창고가 원자재를 불출 및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FIFO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기준으로 스캔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진행한다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FA: 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01/07/2023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pt-BR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175 150 26 33 số lượng 250 EA thì hệ thống sẽ xổ ra list các NVL cần phải cấp cho FA như sau: 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자재 불출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2023/07/01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생산계획에 </a:t>
            </a:r>
            <a:r>
              <a:rPr lang="pt-BR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175 150 26 33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품번은 수량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250ea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누르면 전산에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자재를 불출 필요할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나온다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456664-11C2-4E75-9DE5-E52A47490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236274"/>
              </p:ext>
            </p:extLst>
          </p:nvPr>
        </p:nvGraphicFramePr>
        <p:xfrm>
          <a:off x="390864" y="3073524"/>
          <a:ext cx="842960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0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37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THÀNH PHẨM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완제품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NGÀY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SX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생산일자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01/07/2023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LƯỢNG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250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EA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 NVL </a:t>
                      </a: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원자재 </a:t>
                      </a:r>
                      <a:r>
                        <a:rPr kumimoji="1" lang="en-US" altLang="ko-KR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TÊN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NVL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원자재 명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ĐVT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TỒN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KHO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재고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LƯỢNG CẦN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필요 수량</a:t>
                      </a:r>
                      <a:endParaRPr kumimoji="1" 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THỪA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/THIẾU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여유</a:t>
                      </a:r>
                      <a:r>
                        <a:rPr kumimoji="1" lang="en-US" altLang="ko-KR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부족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VỊ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TRÍ RACK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Rack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위치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28SB02F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Housing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3,500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1,500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2,000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Z-01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TAVT-192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Tape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M-202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PRTC3-EMG15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Protector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K-132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74859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554461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67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이유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유리한 편이 생산계획을 누르고 품번을 누르고 원자재 소요 수량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자재 위치를 나온다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out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out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đâu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lùi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scan out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phép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out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nguyên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out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tránh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trường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out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FA, FA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giữa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khớp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khớp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 (Feeder)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lùi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창고가 원자재를 찾고 스캔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소요 수량만큼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scan out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 하고 오버 스캔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불가능하도록 개발한다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소요수량을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scan out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싶으면 원인을 기록 및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confirm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 야한다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맞지 않는 거를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scan out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하지 않도록 개발한다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자재 오 불출 방지하기 위해 개발한다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Scan out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한후에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폴더에게 자재 불출표를 바로 넘어간다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FA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확인한 후에 실물 및 불출표와 확인해서 일치하는지 확인한다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불일치하면 양쪽은 다시 확인하고 똑바로 수정하고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confirm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버튼을 누르고 전산은 스스로 재고 수량을 차감 및 회계팀에게 공유한다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FA)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공정에게 원자재 불출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FA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공정처럼 일일 자재를 불출하는 방법은 상기와 같다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phương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quyết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 관정에 어느 부서가 소용수량대비 오버 신청하면 경영진에게 승인 받아야하고 이유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 방안까지 설명을 해야한후에 전산에 승인 받는다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87686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568863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14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NHẬN LẠI NVL DO THỪA HOẶC NG TỪ BỘ PHẬN SẢN XUẤT: 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thừa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MES,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nguyên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MES.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생산팀부터 자재 잔량이나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받음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전산에 반납표를 구성해 야하고 모든 정보를 기록되어 야한다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명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반납 원인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 그 다음에 창고가 실물을 확인하고 양식에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confirm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이 양식이 회계팀에게 바로 온다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동시에 창고경우에는 데이다가 재고 증가하고 생산팀쪽은 차감한다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NHẬP KHO THÀNH PHẨM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완제품 입고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gói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chuẩn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–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chuẩn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vẫn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QC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nằm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chờ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(pending). QC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kèm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list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nói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rõ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QC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scan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포장해서 완제품 재고로 잡는다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접이식 박스 기준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)-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포장 박스가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Full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포장하지 않되면 아직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QC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생산량 잡고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Pending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상태이다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QC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제품 박스를 인수하고 전산에 창고가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같이 첨부된다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박스 넘버가 절절로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번부터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백만동까지 나타난다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(QC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요구사항에 상세하게 설명하겠음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443341"/>
              </p:ext>
            </p:extLst>
          </p:nvPr>
        </p:nvGraphicFramePr>
        <p:xfrm>
          <a:off x="251520" y="3876319"/>
          <a:ext cx="842960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Thùng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박스 넘버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hàng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ĐVT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lượng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PO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수량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Nhập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kho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ngay1/07/2023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입고일자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THỪA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/THIẾU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여유</a:t>
                      </a:r>
                      <a:r>
                        <a:rPr kumimoji="1" lang="en-US" altLang="ko-KR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ㅜ족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ĐẠT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TỶ LỆ PO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달성율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-4,820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3,6%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8271A-38030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99,7%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-4,740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06001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590465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KHO-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1909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qua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상기 보고를 통해 각 부서가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 현황을 알 수 있고 생산 해야 하는 수량 얼마인지 알고 있다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lùi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FA, CTLP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동시에 완제품 입고할 때 전산은 스스로 자재를 차감하고 재공재고 얼마 남는지 알 수 있다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line)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nói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cụ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QC)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전산은 일일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QC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 수량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검사 밀림 없음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활용하여 리인별 생산성을 산출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(QC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 사항에 상세하게 설명하겠음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49CE48D3-BF3A-424F-B4FE-7B822A34A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469" y="2857500"/>
            <a:ext cx="850628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XUẤT KHO THÀNH PHẨM</a:t>
            </a:r>
            <a:r>
              <a:rPr lang="ko-KR" altLang="en-US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완제품 출하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MES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30 boxes/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20ft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60boxes/40ft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packing list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invoice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sẵn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출하날짜에 맞을 때 창고가 각 포장 박스에 누르고 어느 품번을 포장하고 있는지 수량이 얼마 있는지 선택하여 포장 출하 작업한다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 박스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충분히 선택되면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(30 boxes/ 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20ft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60boxes/40ft ) Confirm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Complete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버튼을 누르면 이 제품 박스들은 창고 재고 수량을 스스로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차감하고 전산에 있는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 list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Invoice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양식으로 데이다를 아래와 같이 취합됨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10442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5760640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창고 요구 사항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20952"/>
              </p:ext>
            </p:extLst>
          </p:nvPr>
        </p:nvGraphicFramePr>
        <p:xfrm>
          <a:off x="179512" y="697260"/>
          <a:ext cx="861196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3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9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14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Logo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PACKING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LIST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PL: 2023050701PL_ZDA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Ngày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PL: </a:t>
                      </a: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05/07/2023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Seller: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DONGJIN GLOBAL CO.,LTD 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Add: Lot N17, Street 11,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Do Industrial Zone,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Do District,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Baria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Vungtau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Province, Vietnam 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Tell: ……………. Email: ………………………………………………………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Buyer: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ZDA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Add: ………………………………………………………………………………………………………………………………………………………………………………………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Tell: ……………. Email: ………………………………………………………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Logo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Thùng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박스 넘버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hàng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ĐVT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lượng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PO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발주 수량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SL XUẤT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선적 수량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THỪA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/THIẾU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여유</a:t>
                      </a:r>
                      <a:r>
                        <a:rPr kumimoji="1" lang="en-US" altLang="ko-KR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부족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TỶ LỆ XUẤT/PO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</a:t>
                      </a:r>
                      <a:r>
                        <a:rPr kumimoji="1" lang="ko-KR" alt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대비 선적 달성율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-4,820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3,6%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8271A-38030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99,7%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-4,740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863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Thùng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박스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-27,600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12131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5832648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625252"/>
            <a:ext cx="8712968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toàn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packiglist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invoice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Container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inovoice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packinglist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khẩu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khai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hồ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luuwongj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nhắc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doanh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…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đòi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선적수량 및 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 </a:t>
            </a:r>
            <a:r>
              <a:rPr lang="en-US" altLang="ko-KR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list,INV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수량을 확인후 제품도 </a:t>
            </a:r>
            <a:r>
              <a:rPr lang="en-US" altLang="ko-KR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상차되면 창고 스텝은 완성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 버튼을 누르면 </a:t>
            </a:r>
            <a:r>
              <a:rPr lang="en-US" altLang="ko-KR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Inv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PL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무역부에게 송부되고 세관쪽에 신고하고 회계팀도 그 선적 수량을 접수하고 출하 수랴을 관리하고 고객사쪽은 지불 일정도 확인한다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전산은 회계팀에게 지불 납기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지불 납기 넘어가는지 알라 해주고 회계팀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경영팀은 고객사에게 지불 요구하려고 한다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chậm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sót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수기로 관리하고 있어서 시간 걸리고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오류도 많음등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048933"/>
              </p:ext>
            </p:extLst>
          </p:nvPr>
        </p:nvGraphicFramePr>
        <p:xfrm>
          <a:off x="35495" y="625252"/>
          <a:ext cx="880057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520">
                  <a:extLst>
                    <a:ext uri="{9D8B030D-6E8A-4147-A177-3AD203B41FA5}">
                      <a16:colId xmlns:a16="http://schemas.microsoft.com/office/drawing/2014/main" val="3869308240"/>
                    </a:ext>
                  </a:extLst>
                </a:gridCol>
                <a:gridCol w="1346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2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24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79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Logo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INVOICE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Số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INV: 2023050701INV_ZDA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Ngày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INV: </a:t>
                      </a: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05/07/2023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Seller: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DONGJIN GLOBAL CO.,LTD 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Add: Lot N17, Street 11,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Do Industrial Zone,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Do District,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Baria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10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Vungtau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Province, Vietnam 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Tell: ……………. Email: ………………………………………………………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Buyer:</a:t>
                      </a: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ZDA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Add: ………………………………………………………………………………………………………………………………………………………………………………………</a:t>
                      </a:r>
                    </a:p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10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Tell: ……………. Email: ………………………………………………………</a:t>
                      </a: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Logo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Mã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hàng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품번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ĐVT </a:t>
                      </a:r>
                      <a:r>
                        <a:rPr kumimoji="1" lang="ko-KR" alt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SL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Xuất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선적 수량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Đơn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giá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$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원가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Thành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tiền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$</a:t>
                      </a: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Ghi</a:t>
                      </a:r>
                      <a:r>
                        <a:rPr kumimoji="1" 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sz="800" b="1" kern="1200" baseline="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chú</a:t>
                      </a:r>
                      <a:endParaRPr kumimoji="1" lang="en-US" sz="800" b="1" kern="1200" baseline="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b="1" kern="1200" baseline="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  <a:endParaRPr kumimoji="1" lang="en-US" sz="8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863">
                <a:tc gridSpan="2">
                  <a:txBody>
                    <a:bodyPr/>
                    <a:lstStyle/>
                    <a:p>
                      <a:pPr marL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algn="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pt-BR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 175 150 26 33</a:t>
                      </a: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863"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8271A-38030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10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136"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863">
                <a:tc gridSpan="2"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 err="1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Tổng</a:t>
                      </a: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합계</a:t>
                      </a: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sz="900" b="1" kern="1200" dirty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900" b="1" kern="1200" dirty="0">
                        <a:solidFill>
                          <a:srgbClr val="0000CC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05207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KHO-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051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TRẢ NVL NG CHO KHÁCH HÀNG </a:t>
            </a:r>
            <a:r>
              <a:rPr lang="ko-KR" altLang="en-US" sz="9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고객사에게 자재 반납</a:t>
            </a:r>
            <a:endParaRPr lang="en-US" altLang="ko-KR" sz="9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QC, Kho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định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thuộc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lập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gồm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(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sẵn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원자재 불량때문에 원자재 반납 확보 시 원자재 창고 담당자는 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있었던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양식대로 원자재 반납 서류 작성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양식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open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관련 정보 입렵하면 됨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thứ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원자재명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vị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사유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gói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포장규격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Kích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thước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사이즈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수량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Tổng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trọng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중량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Tổng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용량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cùng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nút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điện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tử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thuận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thường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vấn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quay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trở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Invoice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Packinglist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lô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cột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NG (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rõ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데이타 입력 완료 후 다시 한번 확인 후 문제 없으면 승인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받도록 보냄 버튼 누름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 관리자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사장님에게 원자재 반납 양식 보내고 승인 받은 후 반납 신청서 확정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 검토 후 문제점 있으면 비고 내용 작성하고 재확인 요청 버튼 누르면 내용 조정하도록 창고에게 양식 돌려 보냄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원자재 반납 신청서 승인 후 다음에 완제품 선적번의 인보이스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팩킹 리트에 원자재 반납 리스트를 자동 들어가고 불량 자재라서 고객사에게 반납으로 비고 내용 기록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반납 신청서에서 원자재 불량 내용 세부 기록했음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551396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KHO-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92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TRẢ NVL NG CHO KHÁCH HÀNG </a:t>
            </a:r>
            <a:r>
              <a:rPr lang="ko-KR" altLang="en-US" sz="7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고객사에게 자재 반납</a:t>
            </a:r>
            <a:endParaRPr lang="en-US" altLang="ko-KR" sz="7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XNK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수출입담당자는 경영진에게 서류 보냄 버트 누른 후 스인 받은 후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다음과 같은 업무 자동 진행할 것임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TH1: - Kho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động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giảm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lượng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về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경우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: MES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에서 원자재 재고량에 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고객사에게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반납 수량 자동 감소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Dữ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của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kế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toán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phận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cũng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giảm</a:t>
            </a:r>
            <a:endParaRPr lang="en-US" altLang="ko-KR" sz="7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회계 및 기타 부서가 관련 데이터 자동적 감소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TH2: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Nếu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lại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경우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고객사가 동진에게 원자재 불량 수량 재보완하면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: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Trong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của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quản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thư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NVL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chờ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  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창고 관리 시스템에서 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“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고객사 원자재 불량 수량 재보완 대기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＂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로 내용 기록할 것임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Đến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phận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nhập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lượng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NVL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chú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giấy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xuất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nào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lùi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NVL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nếu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đủ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không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tồn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tại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trong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thư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“NVL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chờ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nữa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”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nếu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chưa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đủ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vẫn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tồn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tại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lượng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thiếu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đến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bù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đủ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  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보완 수량 받은 후 창고 담당장가 입고 수량 입력하고 어떤날 반납 신청서의 보완 수량 받은지 비고 기록하여 보완 수량 입력 후 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MES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보완 수량    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  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자동적 감소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다 보완 수량 받은 후 고객사 원자재 불량 수량 재보완 대기로 내용 자동적 삭제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다 보완 수량 아직 받지 않으면 고객사 보완 완료날까지 그 수량이 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MES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에서 지속적 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  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존재할 것임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Lưu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ý: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Thư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quản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thêm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giá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trị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giá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thiếu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(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Ngoài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nội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dung chi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tiết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đề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cập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ở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của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form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xuất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NVL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   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비고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미보완수량에 단가 및 금액 관리 내용 추가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5. NHẬN NVL NHIỀU HƠN INVOICE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인보이스대비 차이 실물 접수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NVL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thừa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hoặc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không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chép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Invoice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bộ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phận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vẫn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tiến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nhập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nhưng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lượng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thừa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không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nhập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vào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thư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“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thừa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”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theo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dõi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riêng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(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Nhưng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lượng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vẫn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vào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tổng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tồn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). Form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thừa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dự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cần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nhập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인보이스대비 실물 많이 접수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및 실물 있는데 인보이스에 원자재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ID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미기록 경우는 창고 담당자가 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MES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실물 입고 수량 등록하는데 관리하도록 인보이스대비 차이수량으로 내용 기록해야함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.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하기처럼 내용 있는 인보이스대비 차이 수량 기록 양식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: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thứ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(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động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nhảy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숫자 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(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자동적 증가</a:t>
            </a:r>
            <a:r>
              <a:rPr lang="en-US" altLang="ko-KR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Invoice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인보이스 번호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Ngày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Invoice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인보이스 날짜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Đơn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vị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tính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단위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lượng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thừa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차이 수량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Đơn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giá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단가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Giá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trị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thừa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7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금액</a:t>
            </a:r>
            <a:endParaRPr lang="en-US" altLang="ko-KR" sz="7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7507525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III. NHU CẦU BỘ PHẬN KHO-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창고 요구 사항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9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5. NHẬN NVL NHIỀU HƠN INVOICE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인보이스대비 차이 실물 접수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thừa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금액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đích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dõi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invoice,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tổng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trong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gửi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dư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mình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?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 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확인하고 싶은 시점별에서 및 고객사가 보낸 차이 원자재 상황 파악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원자재별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인보이스별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총 금액을 관리함으로 목표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.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QUẢN LÝ THÙNG XÁM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접이식 박스 관리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lẫn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 온 접이식 박스가 있으면 창고 담당자가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MES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수량 입력 후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수량 자동적 증가 계산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출하 시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접입식 박스 수량 자동적 빼냄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현재고 수량 몇개 있는지 수량 나옴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show ra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thùng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들어가서 접이식 박스 입출고 현황을 확인 할 수 있는 기능 개발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7. CÁC YÊU CẦU KHÁC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요구 사항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dễ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dàng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창고팀은 원자재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완제품 입고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재고를 편하게 확인 가능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dễ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차종별 </a:t>
            </a:r>
            <a:r>
              <a:rPr lang="ko-KR" altLang="en-US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품번별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데이타를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쉽게 찾을 수 있음</a:t>
            </a:r>
            <a:endParaRPr lang="en-US" altLang="ko-KR" sz="10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dễ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….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입고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재고값이 쉽게 계산 할 수 있음</a:t>
            </a:r>
            <a:r>
              <a:rPr lang="en-US" altLang="ko-KR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다른 요구등 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05007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IV. NHU CẦU BỘ PHẬN CTLP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553244"/>
            <a:ext cx="8506280" cy="5239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 SẢN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CỦA TẤT CẢ CÁC CÔNG ĐOẠN VÀ NHÂN VIÊN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공정별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작업자별 생산량 계산 성능 개발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Komax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Twisting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stripping, Seal, tube, heating, Crimping,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ảnh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코막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Twist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공정만 생산량 계산 되었는데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strip, seal, tube, heating, crimping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공정이 생산량 계산 되지 않았어서 다음 문제에 영향함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 staff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새산수량 입력하고 작업자 생산성 계산는데 시간 많이 걸림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작업자는 생산 수량 보고서 직접 작성해서 정확하는지 확인 사람 없음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nữa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 수량 정확하게 계산하고 다른 업무 진행하도록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 staff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업무량 감소하기 위해서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필요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u="sng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Phương </a:t>
            </a:r>
            <a:r>
              <a:rPr lang="en-US" altLang="ko-KR" sz="800" u="sng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800" u="sng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u="sng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00" u="sng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u="sng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dưới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dạng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QR code.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Cứ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Feeder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gom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trước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gom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dùng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súng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bắn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Barcode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bắn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QR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bắn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tem barcode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lúc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방안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각부서 작업자별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QR code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됨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Feeder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시간별 각 공정별 반제품 모여서 무선 스캔기 사용하여 작업자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QR code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 후 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전선 묶음 오더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sheet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MES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작업자 생산량 자동적 계산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- Khi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chỗ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xỏ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QR code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xỏ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Feeder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bắn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QR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 ra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bàn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bắn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xỏ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MES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씰 삽입공정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작업자의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QR code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생성했으니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Feeder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그 작업자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QR code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전선 묶음에 있는 오더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sheet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 시 그 수량이 그작업자에 들어갈 것임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묶음 스캔 후 다른 공정 이동할 것임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Tương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vậy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stripping,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Xỏ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tube,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nhúng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crimping, twisting, …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Strip, seal, tube, heating, </a:t>
            </a:r>
            <a:r>
              <a:rPr lang="en-US" altLang="ko-KR" sz="800" dirty="0" err="1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crimpin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공정와 동일 실행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u="sng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800" u="sng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kỹ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hỗ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QR code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riêng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họ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phù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bắn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Barcode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toàn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생산계획 적합하는 공정 이동 할 때 다기능 작업자 및 지원 작업자가 여러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QR code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무선 스캔기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대만 필요하여 상기 전체 공정에 사용할 수 있을 것임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QUẢN LÝ TỒN KHO TƯƠNG ĐỐI LƯỢNG NVL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재고 수량 상당히 관리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MES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시스템은  </a:t>
            </a:r>
            <a:r>
              <a:rPr lang="en-US" altLang="ko-KR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 </a:t>
            </a:r>
            <a:r>
              <a:rPr lang="ko-KR" altLang="en-US" sz="8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재공재고 관리 안 됨</a:t>
            </a:r>
            <a:endParaRPr lang="en-US" altLang="ko-KR" sz="8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607743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IV. NHU CẦU BỘ PHẬN CTLP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11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QUẢN LÝ TỒN KHO TƯƠNG ĐỐI LƯỢNG NVL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재고 수량 대량 관리</a:t>
            </a:r>
            <a:endParaRPr lang="en-US" altLang="ko-KR" sz="75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Phương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lúc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thúc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endParaRPr lang="en-US" altLang="ko-KR" sz="75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HR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lùi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Cutting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terminal,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Seal. Sau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seal, Sau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tube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tube,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crimping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terminal, …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cùng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tỷ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lệ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phế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NG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khó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con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phế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NG, Setup).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방안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창고는 원자재 불출 시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 재공재고 증가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훅랙 입고 후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재공재고 자동적 감소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(CUT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전선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단자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씰 감소하고 씰 삽입 후 씰 추가 감소하고 튜브 끼운 후 튜브 추가 감소하고 압착 후 단자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감소 등등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원재자 빼낸 후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CTLP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재공재고 데이터 나옴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스크랩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NG, Setup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사용 된 자재로 인해 정확한  재공재고 수량 관리 힘듬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QUẢN LÝ ĐỒNG SET HOOKRACK (TỒN HR ĐÃ ĐƯỢC NÊU Ở MỤC II TỪ BỘ PHẬN KẾ HOẠCH)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훅랙 동일 셋트 관리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계획 부서의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II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항목에서 이야기했음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HR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Set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동일 셋트 관리 아직 안 됨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Phương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BOM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leadwire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HR,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mực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Set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tránh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trường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Leadwire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quá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quá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ít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방안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품번별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BOM,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와이어 생산 된 수량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훅랙 입고 된 수량에 근거하여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품번별 셋트 동일도 전산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품번별대로 회로별의 부족 수량 전산하여 부족 수량대로 생산 진행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와이어 많이 생산하고 어떤 와이어 적게 생산하는 경우 방지하기 함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75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QUẢN LÝ THẤT THOÁT NVL CẦN REWORK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재작업음로 인한 원자재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endParaRPr lang="en-US" altLang="ko-KR" sz="75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rework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현재 </a:t>
            </a:r>
            <a:r>
              <a:rPr lang="ko-KR" altLang="en-US" sz="750" dirty="0" err="1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재작업시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사용되는 원자재 원자재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아직 안 됨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Phương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Ví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Lead wire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sang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kích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thước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leadwire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cắt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cùng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thí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list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방안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와이어 한 가지 재작업 시 어떤품번으로 재작업하는 정보 및 재작업 수량에 근거하여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수량 전산되고 다음과 같은 관리 리스트 나올 것임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dây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cắt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mm/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sợi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mét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회로당 버린 전선 길이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회로 수량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LOSS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전선 길이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</a:t>
            </a:r>
            <a:endParaRPr lang="en-US" altLang="ko-KR" sz="75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terminal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bằng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terminal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terminal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떤 단자에서 어떤 단자로 교체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버린 단자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버린 단자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LOSS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bằng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seal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씰에서 어떤 씰로 교체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버린 씰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버린 수량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LOSS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vật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자재</a:t>
            </a:r>
            <a:endParaRPr lang="en-US" altLang="ko-KR" sz="75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UPH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</a:t>
            </a:r>
            <a:r>
              <a:rPr lang="en-US" altLang="ko-KR" sz="7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 공정별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UPH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근거하여 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재작업 비용 전산함</a:t>
            </a:r>
            <a:r>
              <a:rPr lang="en-US" altLang="ko-KR" sz="75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454318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IV. NHU CẦU BỘ PHẬN CTLP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144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QUẢN LÝ THẤT THOÁT NVL CẦN REWORK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재작업 자재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목적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재작업 수량 및 값에 대한 원자재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tổn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gây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작업자별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파악</a:t>
            </a:r>
            <a:endParaRPr lang="en-US" altLang="ko-KR" sz="1000" dirty="0">
              <a:solidFill>
                <a:schemeClr val="accent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đợt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kê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재작업 원자재 파악 되면 재고실사 시 재작업 원자재 빼낸 후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파악됨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72828"/>
            <a:ext cx="5904656" cy="3533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1871747"/>
            <a:ext cx="2796530" cy="306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Leadwire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tổng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hỏng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와이어 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누르면 총 재작업 수량 및 어떤 작업자 불량 작업하고 작업 시간 얼마 걸린지 정보 다 나옴</a:t>
            </a:r>
            <a:r>
              <a:rPr lang="en-US" altLang="ko-KR" sz="1000" dirty="0">
                <a:solidFill>
                  <a:schemeClr val="accent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trị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원자재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누르면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LOSS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및 어떤 작업자 잘못 작업했는지 정보 다 나옴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762531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IV. NHU CẦU BỘ PHẬN CTLP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144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QUẢN LÝ PHẾ LIỆU CHO TỪNG NGƯỜI, CHO TỪNG MÁY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호기별대로 스크랩 관리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현재 스크랩 현황 아직 관리하지 않음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Phương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CTLP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tỷ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Staff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작업자별 호기별의 스크랩을 입력 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스크랩 수량 자동적 빼내고 현 재공재고 수량 나옴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작업자별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호기별 스크랩의 수량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비용에 대한 자동적 전산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29407"/>
            <a:ext cx="602506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271217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V. NHU CẦU BỘ PHẬN FA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97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 LÝ TỒN NVL (CŨNG ĐÃ ĐƯỢC NÊU Ở MỤC II CỦA BỘ PHẬN KẾ HOẠCH)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재고 수량 관리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내용은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II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항목에서 이야기 했음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trạng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재공재고 아직 관리하지 않음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아직 없으면서 엑셀로도 아직 입력하지 않고 관리하지 않음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해당 내용 개발 필요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재공재고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해당날 원자재 수량 접수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해당날 완제품 선적 수량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=&gt;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lấy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đâu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Do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vượt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định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BOM? Do BOM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Do NG? Do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thoát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Quá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trình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현시점에서 비교하도록 날말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월말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분기말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년말 시점의 재공재고 데이터 파악하기 위하여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BOM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기준대비 많이 사용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BOM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잘못 사용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원자재로 인한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파악하기 위함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비교하는 것은 초기 재공재고 수량 및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대로 계산 된 일일 생산계획에 근거한 필요함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FA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재공재고 빼낸 후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CUT/LP,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창고부서는 생산계획대로 원자재 불출 필요함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QUẢN LÝ NĂNG SUẤT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생산성 관리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생산성 관리 아직 안 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Scan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 (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QC)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con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chép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=&gt;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thuyết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phục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lập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cậy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bằng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Barcode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taktime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tỷ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cạnh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chéo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QC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완제품 스캔 후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생산성 전산할 것임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품질부서는 완제품 재공재고에 있으면 아 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사람은 생산성이 직접 수기로 계산하고 있으니 일일 생산수량보고 중실한 경우도 있어서 생산성 정확하게 안 나옴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완제품 바코드 스캔에 통하여 생산성 정확하게 나울 수 있음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완제품 수량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작업자수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작업시간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TT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근거한 생산성 및 생산계획대비 완료율을 전산할 것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생산성 보고서 작성 시 관련 부서 사람들은 생산성 데이터 서로 확인하는데 시간 걸림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405765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V. NHU CẦU BỘ PHẬN FA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QUẢN LÝ NVL NG, THỜI GIAN REWORK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원자재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재작업 시간 관리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soát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FA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thiệt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재공재고에 빼내기 위해서  불량 원자재 관리 아직 안 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LOSS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 및 재작업 시간도 관리 아직 안 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NG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phương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line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kê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do NVL).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실체 재공재고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원자재별 불량 원자재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원자재별 재작업 비용 파악하도록 상기 문제 처리해야 필요함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상기 데이터에 근거하여 처리 방안 수립하고 재고실사 시 재공재고 수량 빼내고 고객사에게 고객 불량 원자재 요청하기 위함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524564"/>
            <a:ext cx="6360964" cy="282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481" y="2526266"/>
            <a:ext cx="3657991" cy="1648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481" y="4235815"/>
            <a:ext cx="3657991" cy="128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412226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V. NHU CẦU BỘ PHẬN FA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298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QUẢN LÝ NVL NG, THỜI GIAN REWORK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원자재 및 재작업 시간 관리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03" y="985292"/>
            <a:ext cx="8250865" cy="172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92" y="2794370"/>
            <a:ext cx="8054907" cy="172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77056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VI. NHU CẦU BỘ PHẬN QC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553244"/>
            <a:ext cx="8506280" cy="5245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 VẼ CÓ HIỆU LỰC VÀ KHÔNG CÓ HIỆU LỰC ĐƯỢC QUẢN LÝ TRÊN HỆ THỐNG.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도면 관리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효력 및 미효력 도면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설변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전후 도면 관리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도면 관리 아직 안 함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효력 및 미효력 도면 관리 개발 요청</a:t>
            </a:r>
            <a:endParaRPr lang="en-US" altLang="ko-KR" sz="7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đánh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chéo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nằm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미효력 도면 경우는 도면에서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“X“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표시하여 미효력 도면 파일에 관리하고 효력 기간 내용 표시 함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nằm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lần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thứ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Kèm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효력 도면 경우는 효력 도면 파일에서 관리하고 효력날 표시함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도면 경우는 수정번 및 수정 내용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고개사 및 내부 승인 서류 첨부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mở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kiếm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chiếu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so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lần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vấn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ai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vì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목적은 확인 시 찾기 쉽고 문제 발생 시 수정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사유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누구 승인한지 정보를  찾은데 시간 안 걸림으로 목적임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u="sng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700" u="sng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ý: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cập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R&amp;D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IE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ban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endParaRPr lang="en-US" altLang="ko-KR" sz="7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R&amp;D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 IE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팀은 도면 동록한 담당부인데 수정 도면 발생 시 등록할 것임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QUẢN LÝ TỶ LỆ NG NỘI BỘ VÀ NG TỪ KHÁCH HÀNG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고개 및 내부 불량 관리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tỷ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NG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NVL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CTLP,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FA,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내부 불량율 관리 필요 있음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다음과 같은 내용대로 입고 원자재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CUT/LP FA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원재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고개사 원자재 관리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sinh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발생날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수량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Nguyên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원인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Phương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khắc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 방안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lỗi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sinh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khắc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phục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상기 내용에 근거하여 필요 시 불량율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 발생날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 등등 알도록 데이터 추적할 수 있을 것임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HỆ THỐNG CẦN SỬ DỤNG ĐƯỢC BARCODE CỦA KHÁCH HÀNG ĐỂ THEO DÕI SỐ LƯỢNG, TRUY XUẤT DỮ LIỆU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수량 확인 및 데이터 추적하도록 고객사 바코드 사용 필요해야 함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barcode / QR code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riêng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ty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chúng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ta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동진 바코드 사용하고 있으니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 tem bar code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라벨 구매 비용 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tem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인새 구매 비용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mực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먹지 구매 비용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dán</a:t>
            </a:r>
            <a:r>
              <a:rPr lang="en-US" altLang="ko-KR" sz="7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라벨 부착 걸림</a:t>
            </a:r>
            <a:endParaRPr lang="en-US" altLang="ko-KR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105592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VI. NHU CẦU BỘ PHẬN QC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3940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HỆ THỐNG CẦN SỬ DỤNG ĐƯỢC BARCODE CỦA KHÁCH HÀNG ĐỂ THEO DÕI SỐ LƯỢNG, TRUY XUẤT DỮ LIỆU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수량 확인 및 데이터 추적하도록 고객사 바코드 사용 필요해야 함</a:t>
            </a: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Barcode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phù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kiệm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hiểu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 절감하고 효과 증가하도록 고객사한테 양쪽 서로 사용할 수 있는 적합한 바코드 종류 논의 필요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HỆ THỐNG CẦN LƯU TRỮ ĐƯỢC CÁC TIÊU CHUẨN QUẢN LÝ, KIỂM TRA VỀ CHẤT LƯỢNG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업무표준서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업무지시서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검사 서류  관리 필요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kiệm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quyền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quyền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hay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xóa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사람들은 필요 시 시간 절감하고 효과 증가하도록 서류를 확인 및 사용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부서가 들어가서 서류 보는데 수리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삭세 권한 없음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HỆ THỐNG QUẢN LÝ ĐƯỢC CÁC QUY TRÌNH PHÊ DUYỆT TIÊU CHUẢN KIỂM TRA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검사기준 승인 절차서 관리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HỆ THỐNG QUẢN LÝ ĐƯỢC LỊCH SỬ, DỮ LIỆU CÁC ĐỐI SÁCH XỬ LÝ KHI CÓ CÃI LỖI NỘI BỘ VÀ ĐẶC BIỆT TỪ KHÁCH HÀNG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내부불량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불량 및 불량 대책에 관련 데이터 이력 관리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1424571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VII. NHU CẦU BỘ PHẬN IE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625252"/>
            <a:ext cx="8784976" cy="4776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 THỐNG CẦN LƯU TRỮ VÀ QUẢN LÝ ĐƯỢC BẢN VẼ, BOM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BOM,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도면 저장 및 관리 필요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đẩy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BOM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BOM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chi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BOM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QC)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rộng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IE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부서는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BOM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등록하여 각 부서가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BOM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 시 들어가서 사용함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BOM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관리는 도면관리처럼 내용 개발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u="sng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850" u="sng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850" u="sng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lịch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trọng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IE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dễ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고객사에서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BOM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승인 이력을 관리 하는 것이 중요함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관리 되면 확인 변함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HỆ THỐNG CẦN LƯU TRỮ ĐƯỢC LIST DANH MỤC CÁC LINH KIỆN, TRANH THIẾT BỊ CẦN ĐỂ ĐẦU TƯ, LÀM ĐỂ SẢN XUẤT MÃ HÀNG ĐÓ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품번 생산하기 위해서 투자하는 설비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물품 리트스 저장 할 수 있음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완제품 품번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bị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móc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부품품번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설비기계명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kiện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bị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móc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부품품명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설비기계명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ĐVT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Chi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ít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xét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문제에 통하여 신규 품번 생산하도록 뭐 투자하는지 투자 수량 얼마인지 투자 비용 얼마인지 암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투자 비용 많은데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적으면 다시 확인하거너 고객사한테 재논의 필요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mình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동진에게 전체 비용 투자 요청하거나 일부 투자 요청할 것임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Tăng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단자 증가 요청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dừng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ít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mình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hồi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tư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bồi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mình</a:t>
            </a:r>
            <a:endParaRPr lang="en-US" altLang="ko-KR" sz="85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투자 완료 후 생산 운영 시작하다가 갑자기 오더 생산 보류하거나 생산 중단 발생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고객사한테 전체 투자 비용 보상 요청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7800377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VII. NHU CẦU BỘ PHẬN IE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0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HỆ THỐNG QUẢN LÝ ĐƯỢC NHẬT KÝ ĐÀO TẠO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 일지 관리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trọng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dành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con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đạt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chuẩn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thẩm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mỹ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chuẩn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định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mức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IE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부서는 품질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미관성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기준 달성하도록 교육하는 것이 중요한 내용이라서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다음과 같은 관리 목적임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khảo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부서는 교육했던 내용 참고 할 수 있음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minh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trọng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đầy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부서 사인 받는 교육 내용 증명서 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NẾU CÓ THỂ HỆ THỐNG CŨNG SẼ LƯU TRỮ ĐƯƠC CÁC PHẦN MỀM TEST RO CỦA CÁC MODEL ĐÃ VÀ ĐANG CÓ HIỆU LỰC.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있으면 모든 품번의 효력 및 미효력의 회로 프로그램 저장 성능 개발 요청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Folder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đang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효력 회로 프로그램 경우는 효력 파일에 저장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folder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미효력 프로그램 경우는  미효력 파일에 저장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đem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đổi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 시 확인할 수 있고 프로그램 변경 날 알 수 있음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고개사 요청 시 프로그램 재사용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after service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A/S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 사용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rework do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lâu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nữa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설변 제품 경우는 재작업제품 테스트하도록 사용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Symbol"/>
              <a:buChar char="Þ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test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상기 제품들 생산 시 구형 프로그램 사용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Symbol"/>
              <a:buChar char="Þ"/>
            </a:pP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QUẢN LÝ CÁC MÁY MÓC, CCDC, LINH KIỆN (Holder,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pin,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..)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설비기계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부속품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홀더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FA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보드 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보드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,…)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rõ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VIII.9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dưới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VIII.9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항목에 이야기할 것임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QUẢN LÝ CÁC DỮ LIỆU CYCLE TIME (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Hình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ảnh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Clip,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CYCLE TIME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관리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동영상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QUY TRÌNH PHÊ DUYỆT HỒ SƠ, BẢN VẼ, BOM THEO CÁC TRÌNH TỰ TƯƠNG TỰ MỤC VIII (MUA HÀNG) TRÊN HỆ THỐNG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VIII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항목처럼 서류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BOM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절차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내용 동일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518820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2473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VIII. NHU CẦU BỘ PHẬN MUA HÀNG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구매 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239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DEMAND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Form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양식 생성 완료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신청서 작성 시 번호 자동적 변경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신청 정보 입력 시 날짜 자동적 변경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Hay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부서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부서에게 구매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ID code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ID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gắn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họ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code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구매 작성자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작성사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성명 자동적 나옴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CCDC,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phẩm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구매했던 원자재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자산이면 품번에 선택 누름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제품명에 근거함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CCDC,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: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luôn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자산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,…: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품명 입력하면 구매했던 품번들 나옴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구매하지 않은 물품 경우는 다음과 같은 내용 생성할 것임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khảo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단가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구매했던 품번 맞게 입력하면 시스템이 자동적 나옴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Tổng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khảo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nhảy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총금액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자동적 나옴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cụ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사용목적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구제적 작성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xong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=&gt;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xét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phù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xóa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bỏ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hạng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xong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신청서 작성 완료 후 보낸 버튼 누름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=&gt;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구매 신청서 검토 및 승인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관리자는 적합 수량 수정하거나 불필요 항목 삭제 할 수 있는 성능이 있음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구매 시청서 사인 후 담당자에게 이동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nắm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담당자는 승인 했던 경영진이 최종 구매하는 품명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암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bước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담당자는 다음 업무 내용 진행할 것임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회계팀은 승인 했던 경영진이 최종 구매하는 품명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암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181990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2473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VIII. NHU CẦU BỘ PHẬN MUA HÀNG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구매 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553244"/>
            <a:ext cx="8506280" cy="5259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TÌM KIẾM NHÀ CUNG CẤP, HỎI BÁO GIÁ, ĐÀM PHÁN GIÁ VÀ SO SÁNH CÁC BẢNG BÁO GIÁ CUỐI CÙNG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업제명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 견적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 협의 및 최종 단가 견적 비교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cập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VIII.1.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kiếm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hỏi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đàm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tốt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so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Form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구매 신청서 승인 후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VIII.1.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함목에 이야했던 내용대로 구매 담당자는 최소한 제작업제 제일 싼 단가로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군데 단가 견적 요청 및 다음과 같은 내용대로 단가 비교서 작성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제작업제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Địa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CCDC, TS, …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물품  코드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NVL, CCDC,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: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thị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luôn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자산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,…: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품명 입력하면 구매했던 품번들 나옴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구매하지 않은 물품 경우는 다음과 같은 내용 생성할 것임</a:t>
            </a:r>
            <a:endParaRPr lang="en-US" altLang="ko-KR" sz="9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vị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endParaRPr lang="en-US" altLang="ko-KR" sz="9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en-US" altLang="ko-KR" sz="9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rẻ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trước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최근번의 제일 좋은 단가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업체 단가 견적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Tổng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업체별 종류별 총금액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thiện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 견적 비교서 작성 완료 후 보낸 버틈 누를 때 관리자에 자동적 보냄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관린자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điểm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phù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trường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chỗ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=&gt;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quay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trở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xử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xong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관리자는 단가 견적 비교서 확인 시 부적합한 사항이 있으면 비고 내용 기록해서 보냄 누름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=&gt;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담당자에게 보내 돌여 가고 관리자 요청 문제 처리 후 관리자에게 보냄 누름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769066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2473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VIII. NHU CẦU BỘ PHẬN MUA HÀNG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구매 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0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HỎI BÁO GIÁ VÀ SO SÁNH BÁO GIÁ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 견적 요청 및 단가 견적 비교서 작성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tốt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khảo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quyết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định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cùng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BGĐ.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quay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trở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trình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hay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muốn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file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kèm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hiển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단가 견적 비교서 확인 시 어떤 업체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수량 모든 정보 확인 후 경영진께 보낸 버튼 누름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검토 시 부적합 사항 있으면 비고 내용 작성 후 보낸 버튼 누를 때 담당자에게 돌려 보내고 경영진 승인 받기 위해서 부적합 사항 처리함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단가 견적 비교서에 있는 견적서 확인하고 싶으면 견적서에 누르고 견적서 나옴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RA PO </a:t>
            </a:r>
            <a:r>
              <a:rPr lang="en-US" altLang="ko-KR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bước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riêng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nút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click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lựa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chọn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ra. PO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nữa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Ok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tự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động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단계에 경영진은 물품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업체 선택 시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선택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선택 버튼 있음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PO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자동적 나옴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PO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양식이 현양식처럼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양식 조정 사항이 있으면 요청할 것임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나옴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재확인 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OK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하면 보낸 버튼 누름 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관리자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회계에 자동적 넘어 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THỰC HIỆN MUA HÀNG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진행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tục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đặt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đặt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đặt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cọc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담당자는 판매업체 연락하고 구매 계약서 작성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오더 발송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보증금 지급 구매에 관련하는 업무 진행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trường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cọc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trước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mẫu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sẵn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xong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cộng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kèm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PO,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trường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sửa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chữa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nữa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phát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sót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điều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quay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sữa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hiện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선지급 후구매나 보증금 지급으로 내용하는 구매 계약서 작성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계약서 양식 있었고 관련 내용 입력 후 구매신청서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견적서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PO,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지급신청서로 첨부하는 보낸 버튼 누름 후 관리자에게 서류 넘어가고 확인 후 보낸 버튼 누를 때 회계팀에게 넘어가고 회계팀은 계약서 내용 확인 시 수정 내용이 있으면 비고 작성 후 보낸 버튼 누름 후 관리자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담당장게돌려 보냄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040486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2473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VIII. NHU CẦU BỘ PHẬN MUA HÀNG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구매 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97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bước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thấy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kèm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Demand, PO,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담당자는 서류 부적합 내용 수정 후 </a:t>
            </a:r>
            <a:r>
              <a:rPr lang="ko-KR" altLang="en-US" sz="8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회계팀에게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재발송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회계팀 확인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ok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하면 경영진에게 구매 신청서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지급신청서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PO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보내고 승인 진행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toàn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서류 승인 후 관리자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회계팀에게 서류를 넘어 감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trước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qua Email,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gốc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họ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ký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họ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gửi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mình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gốc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thủ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tục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bổ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sung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gốc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ít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gốc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đợt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Khi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xong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nút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thành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담당자는 판매업체에게 계약서 메일로 보내고 원본도 보내 주고 사인 받은 후 동진에게 원본 보냄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회계팀은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지급 서류 빨리 완료하도록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판매업체가 계약서 사인 후 스캔하고 메일로 보냄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회계팀에게 차후 계약서 원본 보완 보냄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계약서 최소한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 있어야 하여 한 부 회계 보관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부 구매팀 보관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 회계팀은 지급 신청서에 지급날 표시하여 구매 담당자가 알고 판매 업체에게 통보하기 위함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회계팀은 지급 완료 시 지급 완료 버튼 누름 후 지급 완료 서류 마감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XÁC NHẬN DEMAND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신청서 확인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kiến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hỏi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납품 일정 확인 후 구매요청자가 물품 입고날 알기 위해서 구매 신청서에 날짜 작성함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thực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tế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sánh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thừa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물품 입고 시 물량 수량 확인하고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기록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문제가 없음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 수량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여유 수량으로 정보 작성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대로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입고 완료 후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마감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treo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thúc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완료까지 </a:t>
            </a:r>
            <a:r>
              <a:rPr lang="en-US" altLang="ko-KR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Thừa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ghi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chú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여유 수량 비고 기록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GIAO HÀNG CHO BỘ PHẬN ĐỀ NGHỊ MUA HÀNG </a:t>
            </a: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요청자에게 구매 물량 인수인계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chủng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chất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5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5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요청자는 구매 물품 받을 때 구매신청서에 정보 기록할 것임</a:t>
            </a:r>
            <a:endParaRPr lang="en-US" altLang="ko-KR" sz="8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611024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96744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VIII. NHU CẦU BỘ PHẬN MUA HÀNG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구매 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68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THANH TOÁN SỐ TIỀN CÒN LẠI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나머지 금액 지급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Demand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완료 시 마감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hủy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tờ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lùi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Trường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áp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trường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khách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구매하지 않은 항목이 구매 완료까지 유지하고 어떤 항목 취소하면  구매 신청서에 취소 표시하고 관련 서류에 있는 수량을 자동적 감소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물량 취소 경우는  구매하지 않은 물량에 적용만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việc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kèm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tờ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담당자는 구매 완료 후 구매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들어가서 구매 완료 누르면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지급 필요 금액 표시 된 지급 신청서 자동적 나오고 다음대로 과련 서류 같이 나옴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Demand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đủ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6)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충분하게 받았던 확인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신청서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PO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đồng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게약서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đợt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1, 2, 3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차별 지급신청서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있으면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Phiếu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나머지 금액 지급 신청서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tờ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mọi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thứ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duyệt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Nếu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đúng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GỬI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chứng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chạy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관리자에게 상기 서류를 자동적 보내고 확인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OK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하면 보낸 버튼 누를 때 경영진에게 자동적 보내고 검토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OK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하면 보낸 버튼 누를 때 관리자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회계에게 자동적 넘어감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 typeface="Symbol"/>
              <a:buChar char="Þ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bồ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hồ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hoàn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phòng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BGĐ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담당자는 서류 인쇄하고 관리자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 사인 받은 후 회계에게 서류 보냄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hồ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gốc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Hồ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tin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chuyển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lịch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phải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hỏi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bấm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nút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lại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không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hiển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trong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thư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“CHỜ THANH TOÁN NỮA”.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회계팀은 원본 서류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있는 서류 받은 후 재무 현황 확인하다가 지급신청서에 지급 일정 기록하고 구매 담당자에게 보냄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지급 완료 후 지급 완료 버튼 누려서 서류 마감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76214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624736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VIII. NHU CẦU BỘ PHẬN MUA HÀNG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구매 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5058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 YÊU CẦU PHỤ NHƯNG QUAN TRỌNG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부요청 항목인데 미중요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구매 부서의 요청 사항들에서 다음과 같은 요구 처리 할 것임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đến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đoạn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kê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언제부터 언제까지 구매 이력 추적 하고 싶으면 추적할 수 있는 성능 개발 요청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Demand, …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업체별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PO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Demand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벌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,…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추적 시 추적 성능 개발 요청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부서별 추적 시 추적 성능 개발 요청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Mua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giá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데이터 추적 시 구매 수량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언제 구매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업체 구매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어떤부서에게 구매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추적 성능 요청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tiền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판매업체별 미지급금액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nắm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chi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phí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tuổi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thọ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비용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시간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수명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보증신간하기 위하고 분선하고 보고 자성하기 위함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9. SỰ QUẢN LÝ CỦA NGƯỜI HAY BỘ PHẬN LÀM DEMAND (DÀNH CHO TẤT CẢ CÁC BỘ PHẬN TRONG CÔNG TY)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신청자 및 구매 신청부서 관리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회사의 전체 부서에서 적용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cũng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một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출입고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현수량 관리하도록 인원별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tạo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form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dõi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sẵn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CCDC, NVL, …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trên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Form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해당부서 구매 물량 관리하도록 자산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등등 관리 양식 생성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양식이 다음 내용 있음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TT </a:t>
            </a:r>
            <a:r>
              <a:rPr lang="ko-KR" altLang="en-US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Ngày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TS, CCDC, NVL, ...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자산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 받음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ai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누구에게 불출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TS, CCDC, NVL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자산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원자재명</a:t>
            </a:r>
            <a:endParaRPr lang="en-US" altLang="ko-KR" sz="8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đích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gì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목적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vị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8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36157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552728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VIII. NHU CẦU BỘ PHẬN MUA HÀNG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구매 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484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9. SỰ QUẢN LÝ CỦA NGƯỜI HAY BỘ PHẬN LÀM DEMAND (DÀNH CHO TẤT CẢ CÁC BỘ PHẬN TRONG CÔNG TY)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신청자 및 구매 신청부서 관리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회사의 전체 부서에서 적용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접수 시 사인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Cuối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tuần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giấy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ra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주간말이나 불출 수량에 근거하여 서류 인쇄하고 받은 사람 사인 요청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đích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tồn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kiểm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kê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cứu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dễ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chính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kiệm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đây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trưởng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BGĐ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xét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tiếp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bao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항목별의 불출 수량 파아하고 쉽게 찾고 정확하게 확인 및 시간 많이 안 걸림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데이터에 근거하여 관리자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경영진은 어떤 종류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구매 확인 후 구매 내용 결정하기 위함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mỗi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tháng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thế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파악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Tuổi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thọ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loại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CCDC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lâu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Khi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hư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hỏng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자산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공구용구별 수명 파악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Còn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bảo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hành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hay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hết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보증기간 남어 있는지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lý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없어지고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9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10. LIÊN KẾT TÌM KIẾM NHÀ CUNG CẤP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공급업체 찾기 연결</a:t>
            </a:r>
            <a:endParaRPr lang="en-US" altLang="ko-KR" sz="9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website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Google, Bing, Yahoo, Baidu, Yandex, Ask, … AI Chat GPT, Bing AI, …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viên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chỉ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gõ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nội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dung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Tài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máy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móc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thiết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thị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cụ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dụng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cụ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NVL, …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nối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với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Website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những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phần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mềm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để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list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nhà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cấp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phù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hợp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úy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chất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thời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gian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tìm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kiếm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mua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9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Google, Bing, Yahoo, Baidu, Yandex, Ask, … AI Chat GPT, Bing AI,…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엡 페이지에 연결할 수 있음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담당자가 자산명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기계명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설비명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공구용구명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,…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작성하면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엡사이트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소프트웨어에 연결하고 적합 및 위신 업체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좋은 품질 물량을 자동적 찾음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그렇게 하면 구매 담당자가 찾기 시간 감소</a:t>
            </a:r>
            <a:endParaRPr lang="en-US" altLang="ko-KR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586086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IX. NHU CẦU BỘ PHẬN R&amp;D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3294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QUẢN LÝ, LƯU TRỮ ĐƯỢC DỮ LIỆU TỪ KHÁCH HÀNG, BOD, SALES ĐƯA RA ĐỂ THỰC HIỆN DỰ ÁN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실행하도록 고개사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BOD, SALES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 및 관리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QUẢN LÝ, LƯU TRỮ ĐƯỢC TẤT CẢ CÁC TÀI LIỆU VÀ QUY TRÌNH PHÊ DUYỆT BẢN VẼ, BOM ĐỐI VỚI NỘI BỘ VÀ KHÁCH HÀNG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고객사의 도면 및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BOM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승인에 관련 모든 철자서 및 서류 저장 및 관리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QUẢN LÝ, LƯU TRỮ ĐƯỢC LỊCH SỬ CÁC TÀI LIỆU TRƯỚC, SAU THAY ĐỔI, LÝ DO, THỜI GIAN THAY ĐỔI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전 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사유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시간 이력 저장 및 관리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QUẢN LÝ, LƯU TRỮ ĐƯỢC DANH MỤC TÀI SẢN, MÁY MÓC, CÔNG CỤ DỤNG CỤ, CÔNG NGHỆ ĐỂ PHÁT TRIỂN DỰ ÁN ĐÓ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프로젝트 진행하도록 자산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설비기계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공구용구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기술에 관련 항목들 저장 및 관리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 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ko-KR" sz="1000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78468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9">
            <a:extLst>
              <a:ext uri="{FF2B5EF4-FFF2-40B4-BE49-F238E27FC236}">
                <a16:creationId xmlns:a16="http://schemas.microsoft.com/office/drawing/2014/main" id="{D9E01760-3A7F-463F-9D2B-B8F0100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" y="157201"/>
            <a:ext cx="6048672" cy="308239"/>
          </a:xfrm>
          <a:prstGeom prst="rect">
            <a:avLst/>
          </a:prstGeom>
          <a:solidFill>
            <a:srgbClr val="00206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162000" tIns="0" rIns="0" bIns="0" anchor="ctr"/>
          <a:lstStyle>
            <a:lvl1pPr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65188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XI. NHU CẦU BỘ PHẬN ADMIN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부서 수요</a:t>
            </a:r>
          </a:p>
        </p:txBody>
      </p:sp>
      <p:sp>
        <p:nvSpPr>
          <p:cNvPr id="12316" name="TextBox 35">
            <a:extLst>
              <a:ext uri="{FF2B5EF4-FFF2-40B4-BE49-F238E27FC236}">
                <a16:creationId xmlns:a16="http://schemas.microsoft.com/office/drawing/2014/main" id="{359F746A-5D6B-4AFB-8A47-8BFC02AE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92" y="625252"/>
            <a:ext cx="8506280" cy="2370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228600" indent="-228600" algn="just" eaLnBrk="1" latinLnBrk="1" hangingPunct="1">
              <a:lnSpc>
                <a:spcPct val="150000"/>
              </a:lnSpc>
              <a:buAutoNum type="arabicPeriod"/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 TOÁN ĐƯỢC LƯỢNG NHÂN SỰ CẦN THIẾT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 인원수 계산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đã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cài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đặt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sẵn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về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công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Cycle time,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năng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khi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đơn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hàng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thì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hệ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thống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tính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biết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số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lượng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mục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của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chuyền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nhiêu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Yêu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cầu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này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thể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nằm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ở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Người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lập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rồi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từ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dữ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liệu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được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truyền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tới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các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liên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quan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như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BGĐ, …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작업자수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Cycle time,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생산성에 관련 데이터 있었으니 라인 별의 오더 수량 입력 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해당라인 목표 인원수 자동적 계산 나옴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생산부서는 인원수 계산 완료 후 경영진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부서에게 정보 전달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  <a:p>
            <a:pPr marL="171450" indent="-171450" algn="just" eaLnBrk="1" latinLnBrk="1" hangingPunct="1">
              <a:lnSpc>
                <a:spcPct val="150000"/>
              </a:lnSpc>
              <a:buFontTx/>
              <a:buChar char="-"/>
            </a:pP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Dựa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vào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đó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bộ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phận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sản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xuất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sẽ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có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kế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hoạch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tuyển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thêm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hoặc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giảm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bớt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nhân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sự</a:t>
            </a: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latinLnBrk="1" hangingPunct="1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생산부서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인사부서는 상기 데이터에 근거하여 인원 추가하거나 감소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5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470955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56">
            <a:extLst>
              <a:ext uri="{FF2B5EF4-FFF2-40B4-BE49-F238E27FC236}">
                <a16:creationId xmlns:a16="http://schemas.microsoft.com/office/drawing/2014/main" id="{54FE2618-18B2-42A4-96AA-E65E4665D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0"/>
          <a:ext cx="7056438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4" imgW="4277322" imgH="4247619" progId="">
                  <p:embed/>
                </p:oleObj>
              </mc:Choice>
              <mc:Fallback>
                <p:oleObj r:id="rId4" imgW="4277322" imgH="4247619" progId="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0"/>
                        <a:ext cx="7056438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Freeform 23">
            <a:extLst>
              <a:ext uri="{FF2B5EF4-FFF2-40B4-BE49-F238E27FC236}">
                <a16:creationId xmlns:a16="http://schemas.microsoft.com/office/drawing/2014/main" id="{0267B194-7BA6-42A5-BF13-CF1128178B4E}"/>
              </a:ext>
            </a:extLst>
          </p:cNvPr>
          <p:cNvSpPr>
            <a:spLocks/>
          </p:cNvSpPr>
          <p:nvPr/>
        </p:nvSpPr>
        <p:spPr bwMode="auto">
          <a:xfrm>
            <a:off x="2673350" y="1498600"/>
            <a:ext cx="1588" cy="6350"/>
          </a:xfrm>
          <a:custGeom>
            <a:avLst/>
            <a:gdLst>
              <a:gd name="T0" fmla="*/ 0 w 1588"/>
              <a:gd name="T1" fmla="*/ 2147483646 h 6"/>
              <a:gd name="T2" fmla="*/ 0 w 1588"/>
              <a:gd name="T3" fmla="*/ 2147483646 h 6"/>
              <a:gd name="T4" fmla="*/ 0 w 1588"/>
              <a:gd name="T5" fmla="*/ 2147483646 h 6"/>
              <a:gd name="T6" fmla="*/ 0 w 1588"/>
              <a:gd name="T7" fmla="*/ 0 h 6"/>
              <a:gd name="T8" fmla="*/ 0 w 1588"/>
              <a:gd name="T9" fmla="*/ 2147483646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88" h="6">
                <a:moveTo>
                  <a:pt x="0" y="6"/>
                </a:moveTo>
                <a:lnTo>
                  <a:pt x="0" y="6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4" name="Freeform 24">
            <a:extLst>
              <a:ext uri="{FF2B5EF4-FFF2-40B4-BE49-F238E27FC236}">
                <a16:creationId xmlns:a16="http://schemas.microsoft.com/office/drawing/2014/main" id="{96EDB143-3CF9-4F6B-94D0-35E6F9531C3E}"/>
              </a:ext>
            </a:extLst>
          </p:cNvPr>
          <p:cNvSpPr>
            <a:spLocks/>
          </p:cNvSpPr>
          <p:nvPr/>
        </p:nvSpPr>
        <p:spPr bwMode="auto">
          <a:xfrm>
            <a:off x="2620963" y="1574800"/>
            <a:ext cx="0" cy="6350"/>
          </a:xfrm>
          <a:custGeom>
            <a:avLst/>
            <a:gdLst>
              <a:gd name="T0" fmla="*/ 2147483646 h 6"/>
              <a:gd name="T1" fmla="*/ 2147483646 h 6"/>
              <a:gd name="T2" fmla="*/ 0 h 6"/>
              <a:gd name="T3" fmla="*/ 2147483646 h 6"/>
              <a:gd name="T4" fmla="*/ 2147483646 h 6"/>
              <a:gd name="T5" fmla="*/ 0 60000 65536"/>
              <a:gd name="T6" fmla="*/ 0 60000 65536"/>
              <a:gd name="T7" fmla="*/ 0 60000 65536"/>
              <a:gd name="T8" fmla="*/ 0 60000 65536"/>
              <a:gd name="T9" fmla="*/ 0 60000 65536"/>
            </a:gdLst>
            <a:ahLst/>
            <a:cxnLst>
              <a:cxn ang="T5">
                <a:pos x="0" y="T0"/>
              </a:cxn>
              <a:cxn ang="T6">
                <a:pos x="0" y="T1"/>
              </a:cxn>
              <a:cxn ang="T7">
                <a:pos x="0" y="T2"/>
              </a:cxn>
              <a:cxn ang="T8">
                <a:pos x="0" y="T3"/>
              </a:cxn>
              <a:cxn ang="T9">
                <a:pos x="0" y="T4"/>
              </a:cxn>
            </a:cxnLst>
            <a:rect l="0" t="0" r="r" b="b"/>
            <a:pathLst>
              <a:path h="6">
                <a:moveTo>
                  <a:pt x="0" y="6"/>
                </a:moveTo>
                <a:lnTo>
                  <a:pt x="0" y="6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5" name="Freeform 27">
            <a:extLst>
              <a:ext uri="{FF2B5EF4-FFF2-40B4-BE49-F238E27FC236}">
                <a16:creationId xmlns:a16="http://schemas.microsoft.com/office/drawing/2014/main" id="{64DC4378-244F-49E8-9323-3BB965611C6B}"/>
              </a:ext>
            </a:extLst>
          </p:cNvPr>
          <p:cNvSpPr>
            <a:spLocks/>
          </p:cNvSpPr>
          <p:nvPr/>
        </p:nvSpPr>
        <p:spPr bwMode="auto">
          <a:xfrm>
            <a:off x="1455738" y="2163763"/>
            <a:ext cx="4762" cy="6350"/>
          </a:xfrm>
          <a:custGeom>
            <a:avLst/>
            <a:gdLst>
              <a:gd name="T0" fmla="*/ 2147483646 w 6"/>
              <a:gd name="T1" fmla="*/ 0 h 6"/>
              <a:gd name="T2" fmla="*/ 2147483646 w 6"/>
              <a:gd name="T3" fmla="*/ 2147483646 h 6"/>
              <a:gd name="T4" fmla="*/ 0 w 6"/>
              <a:gd name="T5" fmla="*/ 0 h 6"/>
              <a:gd name="T6" fmla="*/ 0 w 6"/>
              <a:gd name="T7" fmla="*/ 0 h 6"/>
              <a:gd name="T8" fmla="*/ 0 w 6"/>
              <a:gd name="T9" fmla="*/ 0 h 6"/>
              <a:gd name="T10" fmla="*/ 0 w 6"/>
              <a:gd name="T11" fmla="*/ 0 h 6"/>
              <a:gd name="T12" fmla="*/ 2147483646 w 6"/>
              <a:gd name="T13" fmla="*/ 0 h 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" h="6">
                <a:moveTo>
                  <a:pt x="6" y="0"/>
                </a:moveTo>
                <a:lnTo>
                  <a:pt x="6" y="6"/>
                </a:ln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00FF73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6" name="Freeform 28">
            <a:extLst>
              <a:ext uri="{FF2B5EF4-FFF2-40B4-BE49-F238E27FC236}">
                <a16:creationId xmlns:a16="http://schemas.microsoft.com/office/drawing/2014/main" id="{9BC2088F-176C-402B-BF30-888726833151}"/>
              </a:ext>
            </a:extLst>
          </p:cNvPr>
          <p:cNvSpPr>
            <a:spLocks/>
          </p:cNvSpPr>
          <p:nvPr/>
        </p:nvSpPr>
        <p:spPr bwMode="auto">
          <a:xfrm>
            <a:off x="1504950" y="2190750"/>
            <a:ext cx="7938" cy="1588"/>
          </a:xfrm>
          <a:custGeom>
            <a:avLst/>
            <a:gdLst>
              <a:gd name="T0" fmla="*/ 2147483646 w 6"/>
              <a:gd name="T1" fmla="*/ 0 h 1323"/>
              <a:gd name="T2" fmla="*/ 2147483646 w 6"/>
              <a:gd name="T3" fmla="*/ 0 h 1323"/>
              <a:gd name="T4" fmla="*/ 2147483646 w 6"/>
              <a:gd name="T5" fmla="*/ 0 h 1323"/>
              <a:gd name="T6" fmla="*/ 2147483646 w 6"/>
              <a:gd name="T7" fmla="*/ 0 h 1323"/>
              <a:gd name="T8" fmla="*/ 0 w 6"/>
              <a:gd name="T9" fmla="*/ 0 h 1323"/>
              <a:gd name="T10" fmla="*/ 0 w 6"/>
              <a:gd name="T11" fmla="*/ 0 h 1323"/>
              <a:gd name="T12" fmla="*/ 2147483646 w 6"/>
              <a:gd name="T13" fmla="*/ 0 h 13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" h="1323">
                <a:moveTo>
                  <a:pt x="6" y="0"/>
                </a:moveTo>
                <a:lnTo>
                  <a:pt x="6" y="0"/>
                </a:ln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00FF73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7" name="Freeform 29">
            <a:extLst>
              <a:ext uri="{FF2B5EF4-FFF2-40B4-BE49-F238E27FC236}">
                <a16:creationId xmlns:a16="http://schemas.microsoft.com/office/drawing/2014/main" id="{BE7C190F-85F8-41FA-81FA-B1F11A728BBC}"/>
              </a:ext>
            </a:extLst>
          </p:cNvPr>
          <p:cNvSpPr>
            <a:spLocks/>
          </p:cNvSpPr>
          <p:nvPr/>
        </p:nvSpPr>
        <p:spPr bwMode="auto">
          <a:xfrm>
            <a:off x="730250" y="1957388"/>
            <a:ext cx="0" cy="6350"/>
          </a:xfrm>
          <a:custGeom>
            <a:avLst/>
            <a:gdLst>
              <a:gd name="T0" fmla="*/ 0 h 6"/>
              <a:gd name="T1" fmla="*/ 0 h 6"/>
              <a:gd name="T2" fmla="*/ 2147483646 h 6"/>
              <a:gd name="T3" fmla="*/ 0 h 6"/>
              <a:gd name="T4" fmla="*/ 0 60000 65536"/>
              <a:gd name="T5" fmla="*/ 0 60000 65536"/>
              <a:gd name="T6" fmla="*/ 0 60000 65536"/>
              <a:gd name="T7" fmla="*/ 0 60000 65536"/>
            </a:gdLst>
            <a:ahLst/>
            <a:cxnLst>
              <a:cxn ang="T4">
                <a:pos x="0" y="T0"/>
              </a:cxn>
              <a:cxn ang="T5">
                <a:pos x="0" y="T1"/>
              </a:cxn>
              <a:cxn ang="T6">
                <a:pos x="0" y="T2"/>
              </a:cxn>
              <a:cxn ang="T7">
                <a:pos x="0" y="T3"/>
              </a:cxn>
            </a:cxnLst>
            <a:rect l="0" t="0" r="r" b="b"/>
            <a:pathLst>
              <a:path h="6">
                <a:moveTo>
                  <a:pt x="0" y="0"/>
                </a:moveTo>
                <a:lnTo>
                  <a:pt x="0" y="0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FE6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8" name="Freeform 30">
            <a:extLst>
              <a:ext uri="{FF2B5EF4-FFF2-40B4-BE49-F238E27FC236}">
                <a16:creationId xmlns:a16="http://schemas.microsoft.com/office/drawing/2014/main" id="{67D108C6-1FED-436F-BD1B-5BEE092C301A}"/>
              </a:ext>
            </a:extLst>
          </p:cNvPr>
          <p:cNvSpPr>
            <a:spLocks/>
          </p:cNvSpPr>
          <p:nvPr/>
        </p:nvSpPr>
        <p:spPr bwMode="auto">
          <a:xfrm>
            <a:off x="781050" y="1801813"/>
            <a:ext cx="6350" cy="1587"/>
          </a:xfrm>
          <a:custGeom>
            <a:avLst/>
            <a:gdLst>
              <a:gd name="T0" fmla="*/ 2147483646 w 6"/>
              <a:gd name="T1" fmla="*/ 0 h 1323"/>
              <a:gd name="T2" fmla="*/ 2147483646 w 6"/>
              <a:gd name="T3" fmla="*/ 0 h 1323"/>
              <a:gd name="T4" fmla="*/ 0 w 6"/>
              <a:gd name="T5" fmla="*/ 0 h 1323"/>
              <a:gd name="T6" fmla="*/ 0 w 6"/>
              <a:gd name="T7" fmla="*/ 0 h 1323"/>
              <a:gd name="T8" fmla="*/ 0 w 6"/>
              <a:gd name="T9" fmla="*/ 0 h 1323"/>
              <a:gd name="T10" fmla="*/ 2147483646 w 6"/>
              <a:gd name="T11" fmla="*/ 0 h 13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1323">
                <a:moveTo>
                  <a:pt x="6" y="0"/>
                </a:moveTo>
                <a:lnTo>
                  <a:pt x="6" y="0"/>
                </a:ln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FFE6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9" name="Freeform 31">
            <a:extLst>
              <a:ext uri="{FF2B5EF4-FFF2-40B4-BE49-F238E27FC236}">
                <a16:creationId xmlns:a16="http://schemas.microsoft.com/office/drawing/2014/main" id="{8D3217FB-6FA0-4A29-AAC2-3189D520E724}"/>
              </a:ext>
            </a:extLst>
          </p:cNvPr>
          <p:cNvSpPr>
            <a:spLocks/>
          </p:cNvSpPr>
          <p:nvPr/>
        </p:nvSpPr>
        <p:spPr bwMode="auto">
          <a:xfrm>
            <a:off x="2217738" y="1392238"/>
            <a:ext cx="4762" cy="0"/>
          </a:xfrm>
          <a:custGeom>
            <a:avLst/>
            <a:gdLst>
              <a:gd name="T0" fmla="*/ 0 w 6"/>
              <a:gd name="T1" fmla="*/ 0 w 6"/>
              <a:gd name="T2" fmla="*/ 0 w 6"/>
              <a:gd name="T3" fmla="*/ 2147483646 w 6"/>
              <a:gd name="T4" fmla="*/ 2147483646 w 6"/>
              <a:gd name="T5" fmla="*/ 2147483646 w 6"/>
              <a:gd name="T6" fmla="*/ 2147483646 w 6"/>
              <a:gd name="T7" fmla="*/ 2147483646 w 6"/>
              <a:gd name="T8" fmla="*/ 2147483646 w 6"/>
              <a:gd name="T9" fmla="*/ 0 w 6"/>
              <a:gd name="T10" fmla="*/ 0 w 6"/>
              <a:gd name="T11" fmla="*/ 0 60000 655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</a:gdLst>
            <a:ahLst/>
            <a:cxnLst>
              <a:cxn ang="T11">
                <a:pos x="T0" y="0"/>
              </a:cxn>
              <a:cxn ang="T12">
                <a:pos x="T1" y="0"/>
              </a:cxn>
              <a:cxn ang="T13">
                <a:pos x="T2" y="0"/>
              </a:cxn>
              <a:cxn ang="T14">
                <a:pos x="T3" y="0"/>
              </a:cxn>
              <a:cxn ang="T15">
                <a:pos x="T4" y="0"/>
              </a:cxn>
              <a:cxn ang="T16">
                <a:pos x="T5" y="0"/>
              </a:cxn>
              <a:cxn ang="T17">
                <a:pos x="T6" y="0"/>
              </a:cxn>
              <a:cxn ang="T18">
                <a:pos x="T7" y="0"/>
              </a:cxn>
              <a:cxn ang="T19">
                <a:pos x="T8" y="0"/>
              </a:cxn>
              <a:cxn ang="T20">
                <a:pos x="T9" y="0"/>
              </a:cxn>
              <a:cxn ang="T21">
                <a:pos x="T10" y="0"/>
              </a:cxn>
            </a:cxnLst>
            <a:rect l="0" t="0" r="r" b="b"/>
            <a:pathLst>
              <a:path w="6">
                <a:moveTo>
                  <a:pt x="0" y="0"/>
                </a:moveTo>
                <a:lnTo>
                  <a:pt x="0" y="0"/>
                </a:ln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1A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0" name="Freeform 32">
            <a:extLst>
              <a:ext uri="{FF2B5EF4-FFF2-40B4-BE49-F238E27FC236}">
                <a16:creationId xmlns:a16="http://schemas.microsoft.com/office/drawing/2014/main" id="{62BDC38D-87B7-4C59-B993-C4D2B144AB4B}"/>
              </a:ext>
            </a:extLst>
          </p:cNvPr>
          <p:cNvSpPr>
            <a:spLocks/>
          </p:cNvSpPr>
          <p:nvPr/>
        </p:nvSpPr>
        <p:spPr bwMode="auto">
          <a:xfrm>
            <a:off x="2190750" y="1392238"/>
            <a:ext cx="6350" cy="0"/>
          </a:xfrm>
          <a:custGeom>
            <a:avLst/>
            <a:gdLst>
              <a:gd name="T0" fmla="*/ 0 w 6"/>
              <a:gd name="T1" fmla="*/ 0 w 6"/>
              <a:gd name="T2" fmla="*/ 0 w 6"/>
              <a:gd name="T3" fmla="*/ 0 w 6"/>
              <a:gd name="T4" fmla="*/ 2147483646 w 6"/>
              <a:gd name="T5" fmla="*/ 2147483646 w 6"/>
              <a:gd name="T6" fmla="*/ 0 w 6"/>
              <a:gd name="T7" fmla="*/ 0 w 6"/>
              <a:gd name="T8" fmla="*/ 0 w 6"/>
              <a:gd name="T9" fmla="*/ 0 60000 65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9">
                <a:pos x="T0" y="0"/>
              </a:cxn>
              <a:cxn ang="T10">
                <a:pos x="T1" y="0"/>
              </a:cxn>
              <a:cxn ang="T11">
                <a:pos x="T2" y="0"/>
              </a:cxn>
              <a:cxn ang="T12">
                <a:pos x="T3" y="0"/>
              </a:cxn>
              <a:cxn ang="T13">
                <a:pos x="T4" y="0"/>
              </a:cxn>
              <a:cxn ang="T14">
                <a:pos x="T5" y="0"/>
              </a:cxn>
              <a:cxn ang="T15">
                <a:pos x="T6" y="0"/>
              </a:cxn>
              <a:cxn ang="T16">
                <a:pos x="T7" y="0"/>
              </a:cxn>
              <a:cxn ang="T17">
                <a:pos x="T8" y="0"/>
              </a:cxn>
            </a:cxnLst>
            <a:rect l="0" t="0" r="r" b="b"/>
            <a:pathLst>
              <a:path w="6">
                <a:moveTo>
                  <a:pt x="0" y="0"/>
                </a:moveTo>
                <a:lnTo>
                  <a:pt x="0" y="0"/>
                </a:ln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1A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1" name="Freeform 33">
            <a:extLst>
              <a:ext uri="{FF2B5EF4-FFF2-40B4-BE49-F238E27FC236}">
                <a16:creationId xmlns:a16="http://schemas.microsoft.com/office/drawing/2014/main" id="{A1921C26-4926-4EB7-A583-0210D25AAA17}"/>
              </a:ext>
            </a:extLst>
          </p:cNvPr>
          <p:cNvSpPr>
            <a:spLocks/>
          </p:cNvSpPr>
          <p:nvPr/>
        </p:nvSpPr>
        <p:spPr bwMode="auto">
          <a:xfrm>
            <a:off x="2230438" y="1327150"/>
            <a:ext cx="6350" cy="1588"/>
          </a:xfrm>
          <a:custGeom>
            <a:avLst/>
            <a:gdLst>
              <a:gd name="T0" fmla="*/ 0 w 6"/>
              <a:gd name="T1" fmla="*/ 0 h 1323"/>
              <a:gd name="T2" fmla="*/ 0 w 6"/>
              <a:gd name="T3" fmla="*/ 0 h 1323"/>
              <a:gd name="T4" fmla="*/ 2147483646 w 6"/>
              <a:gd name="T5" fmla="*/ 0 h 1323"/>
              <a:gd name="T6" fmla="*/ 2147483646 w 6"/>
              <a:gd name="T7" fmla="*/ 0 h 1323"/>
              <a:gd name="T8" fmla="*/ 2147483646 w 6"/>
              <a:gd name="T9" fmla="*/ 0 h 1323"/>
              <a:gd name="T10" fmla="*/ 0 w 6"/>
              <a:gd name="T11" fmla="*/ 0 h 13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" h="1323">
                <a:moveTo>
                  <a:pt x="0" y="0"/>
                </a:moveTo>
                <a:lnTo>
                  <a:pt x="0" y="0"/>
                </a:ln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1A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2" name="Rectangle 40">
            <a:extLst>
              <a:ext uri="{FF2B5EF4-FFF2-40B4-BE49-F238E27FC236}">
                <a16:creationId xmlns:a16="http://schemas.microsoft.com/office/drawing/2014/main" id="{7F60F505-5888-4E48-9283-6B99E5841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55575"/>
            <a:ext cx="8351837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buClr>
                <a:schemeClr val="tx1"/>
              </a:buClr>
            </a:pPr>
            <a:r>
              <a:rPr lang="en-US" altLang="ko-KR" dirty="0">
                <a:solidFill>
                  <a:srgbClr val="CC9900"/>
                </a:solidFill>
              </a:rPr>
              <a:t>Thank you so much &amp; </a:t>
            </a:r>
          </a:p>
          <a:p>
            <a:pPr algn="ctr" eaLnBrk="1" latinLnBrk="1" hangingPunct="1">
              <a:buClr>
                <a:schemeClr val="tx1"/>
              </a:buClr>
            </a:pPr>
            <a:r>
              <a:rPr lang="en-US" altLang="ko-KR" dirty="0">
                <a:solidFill>
                  <a:srgbClr val="CC9900"/>
                </a:solidFill>
              </a:rPr>
              <a:t>Welcome you to visit our company</a:t>
            </a:r>
            <a:endParaRPr lang="ko-KR" altLang="en-US" dirty="0">
              <a:solidFill>
                <a:srgbClr val="CC9900"/>
              </a:solidFill>
            </a:endParaRPr>
          </a:p>
        </p:txBody>
      </p:sp>
      <p:sp>
        <p:nvSpPr>
          <p:cNvPr id="51213" name="Text Box 54">
            <a:extLst>
              <a:ext uri="{FF2B5EF4-FFF2-40B4-BE49-F238E27FC236}">
                <a16:creationId xmlns:a16="http://schemas.microsoft.com/office/drawing/2014/main" id="{9225C26E-6DF4-4771-ABE7-08D919956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0"/>
            <a:ext cx="1143000" cy="57372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</p:txBody>
      </p:sp>
      <p:sp>
        <p:nvSpPr>
          <p:cNvPr id="51214" name="Text Box 57">
            <a:extLst>
              <a:ext uri="{FF2B5EF4-FFF2-40B4-BE49-F238E27FC236}">
                <a16:creationId xmlns:a16="http://schemas.microsoft.com/office/drawing/2014/main" id="{FF4558AB-F90F-4841-8EFB-252E1210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22225"/>
            <a:ext cx="1143000" cy="57372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  <a:p>
            <a:pPr algn="r" eaLnBrk="1" latinLnBrk="1" hangingPunct="1">
              <a:spcBef>
                <a:spcPct val="50000"/>
              </a:spcBef>
            </a:pPr>
            <a:endParaRPr kumimoji="0" lang="ko-KR" altLang="en-US" sz="900">
              <a:latin typeface="Century Gothic" panose="020B0502020202020204" pitchFamily="34" charset="0"/>
            </a:endParaRPr>
          </a:p>
        </p:txBody>
      </p:sp>
      <p:sp>
        <p:nvSpPr>
          <p:cNvPr id="51215" name="Text Box 58">
            <a:extLst>
              <a:ext uri="{FF2B5EF4-FFF2-40B4-BE49-F238E27FC236}">
                <a16:creationId xmlns:a16="http://schemas.microsoft.com/office/drawing/2014/main" id="{DCEAA881-17F9-4936-A30C-A90BA985F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588" y="4954588"/>
            <a:ext cx="647858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50000"/>
              </a:spcBef>
            </a:pPr>
            <a:r>
              <a:rPr kumimoji="0" lang="en-US" altLang="ko-KR" sz="3200">
                <a:solidFill>
                  <a:srgbClr val="CC9900"/>
                </a:solidFill>
              </a:rPr>
              <a:t>Dongjin Global Co., Ltd</a:t>
            </a:r>
            <a:endParaRPr kumimoji="0" lang="ko-KR" altLang="en-US" sz="3200">
              <a:solidFill>
                <a:srgbClr val="CC9900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42665</TotalTime>
  <Words>14800</Words>
  <Application>Microsoft Office PowerPoint</Application>
  <PresentationFormat>On-screen Show (16:10)</PresentationFormat>
  <Paragraphs>1065</Paragraphs>
  <Slides>41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맑은 고딕</vt:lpstr>
      <vt:lpstr>Arial</vt:lpstr>
      <vt:lpstr>Century Gothic</vt:lpstr>
      <vt:lpstr>굴림</vt:lpstr>
      <vt:lpstr>Symbol</vt:lpstr>
      <vt:lpstr>Tahoma</vt:lpstr>
      <vt:lpstr>Times New Roman</vt:lpstr>
      <vt:lpstr>Wingdings</vt:lpstr>
      <vt:lpstr>기본 디자인</vt:lpstr>
      <vt:lpstr>디자인 사용자 지정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.</dc:creator>
  <cp:lastModifiedBy>Admin</cp:lastModifiedBy>
  <cp:revision>1822</cp:revision>
  <cp:lastPrinted>2023-05-20T04:12:55Z</cp:lastPrinted>
  <dcterms:created xsi:type="dcterms:W3CDTF">2003-02-07T07:35:03Z</dcterms:created>
  <dcterms:modified xsi:type="dcterms:W3CDTF">2025-03-12T05:14:07Z</dcterms:modified>
</cp:coreProperties>
</file>